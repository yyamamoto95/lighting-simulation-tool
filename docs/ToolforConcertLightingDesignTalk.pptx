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7" r:id="rId3"/>
    <p:sldId id="260" r:id="rId4"/>
    <p:sldId id="257" r:id="rId5"/>
    <p:sldId id="258" r:id="rId6"/>
    <p:sldId id="261" r:id="rId7"/>
    <p:sldId id="269" r:id="rId8"/>
    <p:sldId id="271" r:id="rId9"/>
    <p:sldId id="272" r:id="rId10"/>
    <p:sldId id="263" r:id="rId11"/>
    <p:sldId id="270" r:id="rId12"/>
    <p:sldId id="266" r:id="rId13"/>
    <p:sldId id="274"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CC66"/>
    <a:srgbClr val="FFFF66"/>
    <a:srgbClr val="CF0B0B"/>
    <a:srgbClr val="914C13"/>
    <a:srgbClr val="FFCCCC"/>
    <a:srgbClr val="FFFF99"/>
    <a:srgbClr val="CCECFF"/>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5" autoAdjust="0"/>
    <p:restoredTop sz="75828" autoAdjust="0"/>
  </p:normalViewPr>
  <p:slideViewPr>
    <p:cSldViewPr snapToGrid="0">
      <p:cViewPr varScale="1">
        <p:scale>
          <a:sx n="55" d="100"/>
          <a:sy n="55" d="100"/>
        </p:scale>
        <p:origin x="1100" y="52"/>
      </p:cViewPr>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E84453-8068-46FE-9CC7-3C114B77FDCF}" type="datetimeFigureOut">
              <a:rPr kumimoji="1" lang="ja-JP" altLang="en-US" smtClean="0"/>
              <a:t>2019/2/13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6C3E19-E99C-4620-AEAF-DDDC3057AF1E}" type="slidenum">
              <a:rPr kumimoji="1" lang="ja-JP" altLang="en-US" smtClean="0"/>
              <a:t>‹#›</a:t>
            </a:fld>
            <a:endParaRPr kumimoji="1" lang="ja-JP" altLang="en-US"/>
          </a:p>
        </p:txBody>
      </p:sp>
    </p:spTree>
    <p:extLst>
      <p:ext uri="{BB962C8B-B14F-4D97-AF65-F5344CB8AC3E}">
        <p14:creationId xmlns:p14="http://schemas.microsoft.com/office/powerpoint/2010/main" val="126653112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3</a:t>
            </a:fld>
            <a:endParaRPr kumimoji="1" lang="ja-JP" altLang="en-US"/>
          </a:p>
        </p:txBody>
      </p:sp>
    </p:spTree>
    <p:extLst>
      <p:ext uri="{BB962C8B-B14F-4D97-AF65-F5344CB8AC3E}">
        <p14:creationId xmlns:p14="http://schemas.microsoft.com/office/powerpoint/2010/main" val="991072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4</a:t>
            </a:fld>
            <a:endParaRPr kumimoji="1" lang="ja-JP" altLang="en-US"/>
          </a:p>
        </p:txBody>
      </p:sp>
    </p:spTree>
    <p:extLst>
      <p:ext uri="{BB962C8B-B14F-4D97-AF65-F5344CB8AC3E}">
        <p14:creationId xmlns:p14="http://schemas.microsoft.com/office/powerpoint/2010/main" val="2180020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kern="1200" dirty="0" smtClean="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5</a:t>
            </a:fld>
            <a:endParaRPr kumimoji="1" lang="ja-JP" altLang="en-US"/>
          </a:p>
        </p:txBody>
      </p:sp>
    </p:spTree>
    <p:extLst>
      <p:ext uri="{BB962C8B-B14F-4D97-AF65-F5344CB8AC3E}">
        <p14:creationId xmlns:p14="http://schemas.microsoft.com/office/powerpoint/2010/main" val="330707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6</a:t>
            </a:fld>
            <a:endParaRPr kumimoji="1" lang="ja-JP" altLang="en-US"/>
          </a:p>
        </p:txBody>
      </p:sp>
    </p:spTree>
    <p:extLst>
      <p:ext uri="{BB962C8B-B14F-4D97-AF65-F5344CB8AC3E}">
        <p14:creationId xmlns:p14="http://schemas.microsoft.com/office/powerpoint/2010/main" val="596618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smtClean="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7</a:t>
            </a:fld>
            <a:endParaRPr kumimoji="1" lang="ja-JP" altLang="en-US"/>
          </a:p>
        </p:txBody>
      </p:sp>
    </p:spTree>
    <p:extLst>
      <p:ext uri="{BB962C8B-B14F-4D97-AF65-F5344CB8AC3E}">
        <p14:creationId xmlns:p14="http://schemas.microsoft.com/office/powerpoint/2010/main" val="2982088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8</a:t>
            </a:fld>
            <a:endParaRPr kumimoji="1" lang="ja-JP" altLang="en-US"/>
          </a:p>
        </p:txBody>
      </p:sp>
    </p:spTree>
    <p:extLst>
      <p:ext uri="{BB962C8B-B14F-4D97-AF65-F5344CB8AC3E}">
        <p14:creationId xmlns:p14="http://schemas.microsoft.com/office/powerpoint/2010/main" val="3565147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9</a:t>
            </a:fld>
            <a:endParaRPr kumimoji="1" lang="ja-JP" altLang="en-US"/>
          </a:p>
        </p:txBody>
      </p:sp>
    </p:spTree>
    <p:extLst>
      <p:ext uri="{BB962C8B-B14F-4D97-AF65-F5344CB8AC3E}">
        <p14:creationId xmlns:p14="http://schemas.microsoft.com/office/powerpoint/2010/main" val="4009821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10</a:t>
            </a:fld>
            <a:endParaRPr kumimoji="1" lang="ja-JP" altLang="en-US"/>
          </a:p>
        </p:txBody>
      </p:sp>
    </p:spTree>
    <p:extLst>
      <p:ext uri="{BB962C8B-B14F-4D97-AF65-F5344CB8AC3E}">
        <p14:creationId xmlns:p14="http://schemas.microsoft.com/office/powerpoint/2010/main" val="3264073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11</a:t>
            </a:fld>
            <a:endParaRPr kumimoji="1" lang="ja-JP" altLang="en-US"/>
          </a:p>
        </p:txBody>
      </p:sp>
    </p:spTree>
    <p:extLst>
      <p:ext uri="{BB962C8B-B14F-4D97-AF65-F5344CB8AC3E}">
        <p14:creationId xmlns:p14="http://schemas.microsoft.com/office/powerpoint/2010/main" val="3342028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F6C3E19-E99C-4620-AEAF-DDDC3057AF1E}" type="slidenum">
              <a:rPr kumimoji="1" lang="ja-JP" altLang="en-US" smtClean="0"/>
              <a:t>13</a:t>
            </a:fld>
            <a:endParaRPr kumimoji="1" lang="ja-JP" altLang="en-US"/>
          </a:p>
        </p:txBody>
      </p:sp>
    </p:spTree>
    <p:extLst>
      <p:ext uri="{BB962C8B-B14F-4D97-AF65-F5344CB8AC3E}">
        <p14:creationId xmlns:p14="http://schemas.microsoft.com/office/powerpoint/2010/main" val="3142028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74DB27B1-3346-4FFC-A09A-2E998190DD82}" type="datetimeFigureOut">
              <a:rPr kumimoji="1" lang="ja-JP" altLang="en-US" smtClean="0"/>
              <a:t>2019/2/13</a:t>
            </a:fld>
            <a:endParaRPr kumimoji="1" lang="ja-JP" alt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kumimoji="1" lang="ja-JP"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5D07DDA-BFEE-4D35-A3BF-3C84D55305A2}" type="slidenum">
              <a:rPr kumimoji="1" lang="ja-JP" altLang="en-US" smtClean="0"/>
              <a:t>‹#›</a:t>
            </a:fld>
            <a:endParaRPr kumimoji="1" lang="ja-JP" alt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1708627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4DB27B1-3346-4FFC-A09A-2E998190DD82}" type="datetimeFigureOut">
              <a:rPr kumimoji="1" lang="ja-JP" altLang="en-US" smtClean="0"/>
              <a:t>2019/2/13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5D07DDA-BFEE-4D35-A3BF-3C84D55305A2}" type="slidenum">
              <a:rPr kumimoji="1" lang="ja-JP" altLang="en-US" smtClean="0"/>
              <a:t>‹#›</a:t>
            </a:fld>
            <a:endParaRPr kumimoji="1" lang="ja-JP" altLang="en-US"/>
          </a:p>
        </p:txBody>
      </p:sp>
    </p:spTree>
    <p:extLst>
      <p:ext uri="{BB962C8B-B14F-4D97-AF65-F5344CB8AC3E}">
        <p14:creationId xmlns:p14="http://schemas.microsoft.com/office/powerpoint/2010/main" val="853593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74DB27B1-3346-4FFC-A09A-2E998190DD82}" type="datetimeFigureOut">
              <a:rPr kumimoji="1" lang="ja-JP" altLang="en-US" smtClean="0"/>
              <a:t>2019/2/13</a:t>
            </a:fld>
            <a:endParaRPr kumimoji="1" lang="ja-JP" alt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kumimoji="1" lang="ja-JP"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5D07DDA-BFEE-4D35-A3BF-3C84D55305A2}" type="slidenum">
              <a:rPr kumimoji="1" lang="ja-JP" altLang="en-US" smtClean="0"/>
              <a:t>‹#›</a:t>
            </a:fld>
            <a:endParaRPr kumimoji="1" lang="ja-JP" alt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38008434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4DB27B1-3346-4FFC-A09A-2E998190DD82}" type="datetimeFigureOut">
              <a:rPr kumimoji="1" lang="ja-JP" altLang="en-US" smtClean="0"/>
              <a:t>2019/2/13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55D07DDA-BFEE-4D35-A3BF-3C84D55305A2}" type="slidenum">
              <a:rPr kumimoji="1" lang="ja-JP" altLang="en-US" smtClean="0"/>
              <a:t>‹#›</a:t>
            </a:fld>
            <a:endParaRPr kumimoji="1" lang="ja-JP" altLang="en-US"/>
          </a:p>
        </p:txBody>
      </p:sp>
    </p:spTree>
    <p:extLst>
      <p:ext uri="{BB962C8B-B14F-4D97-AF65-F5344CB8AC3E}">
        <p14:creationId xmlns:p14="http://schemas.microsoft.com/office/powerpoint/2010/main" val="2858558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4DB27B1-3346-4FFC-A09A-2E998190DD82}" type="datetimeFigureOut">
              <a:rPr kumimoji="1" lang="ja-JP" altLang="en-US" smtClean="0"/>
              <a:t>2019/2/13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55D07DDA-BFEE-4D35-A3BF-3C84D55305A2}" type="slidenum">
              <a:rPr kumimoji="1" lang="ja-JP" altLang="en-US" smtClean="0"/>
              <a:t>‹#›</a:t>
            </a:fld>
            <a:endParaRPr kumimoji="1" lang="ja-JP" altLang="en-US"/>
          </a:p>
        </p:txBody>
      </p:sp>
    </p:spTree>
    <p:extLst>
      <p:ext uri="{BB962C8B-B14F-4D97-AF65-F5344CB8AC3E}">
        <p14:creationId xmlns:p14="http://schemas.microsoft.com/office/powerpoint/2010/main" val="958960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4DB27B1-3346-4FFC-A09A-2E998190DD82}" type="datetimeFigureOut">
              <a:rPr kumimoji="1" lang="ja-JP" altLang="en-US" smtClean="0"/>
              <a:t>2019/2/13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55D07DDA-BFEE-4D35-A3BF-3C84D55305A2}" type="slidenum">
              <a:rPr kumimoji="1" lang="ja-JP" altLang="en-US" smtClean="0"/>
              <a:t>‹#›</a:t>
            </a:fld>
            <a:endParaRPr kumimoji="1" lang="ja-JP" altLang="en-US"/>
          </a:p>
        </p:txBody>
      </p:sp>
    </p:spTree>
    <p:extLst>
      <p:ext uri="{BB962C8B-B14F-4D97-AF65-F5344CB8AC3E}">
        <p14:creationId xmlns:p14="http://schemas.microsoft.com/office/powerpoint/2010/main" val="3232572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DB27B1-3346-4FFC-A09A-2E998190DD82}" type="datetimeFigureOut">
              <a:rPr kumimoji="1" lang="ja-JP" altLang="en-US" smtClean="0"/>
              <a:t>2019/2/13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55D07DDA-BFEE-4D35-A3BF-3C84D55305A2}" type="slidenum">
              <a:rPr kumimoji="1" lang="ja-JP" altLang="en-US" smtClean="0"/>
              <a:t>‹#›</a:t>
            </a:fld>
            <a:endParaRPr kumimoji="1" lang="ja-JP" altLang="en-US"/>
          </a:p>
        </p:txBody>
      </p:sp>
    </p:spTree>
    <p:extLst>
      <p:ext uri="{BB962C8B-B14F-4D97-AF65-F5344CB8AC3E}">
        <p14:creationId xmlns:p14="http://schemas.microsoft.com/office/powerpoint/2010/main" val="4187136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10;コンテンツ">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4DB27B1-3346-4FFC-A09A-2E998190DD82}" type="datetimeFigureOut">
              <a:rPr kumimoji="1" lang="ja-JP" altLang="en-US" smtClean="0"/>
              <a:t>2019/2/13</a:t>
            </a:fld>
            <a:endParaRPr kumimoji="1" lang="ja-JP"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5D07DDA-BFEE-4D35-A3BF-3C84D55305A2}" type="slidenum">
              <a:rPr kumimoji="1" lang="ja-JP" altLang="en-US" smtClean="0"/>
              <a:t>‹#›</a:t>
            </a:fld>
            <a:endParaRPr kumimoji="1" lang="ja-JP"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25318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4DB27B1-3346-4FFC-A09A-2E998190DD82}" type="datetimeFigureOut">
              <a:rPr kumimoji="1" lang="ja-JP" altLang="en-US" smtClean="0"/>
              <a:t>2019/2/13</a:t>
            </a:fld>
            <a:endParaRPr kumimoji="1" lang="ja-JP"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5D07DDA-BFEE-4D35-A3BF-3C84D55305A2}" type="slidenum">
              <a:rPr kumimoji="1" lang="ja-JP" altLang="en-US" smtClean="0"/>
              <a:t>‹#›</a:t>
            </a:fld>
            <a:endParaRPr kumimoji="1" lang="ja-JP"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4038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4DB27B1-3346-4FFC-A09A-2E998190DD82}" type="datetimeFigureOut">
              <a:rPr kumimoji="1" lang="ja-JP" altLang="en-US" smtClean="0"/>
              <a:t>2019/2/13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5D07DDA-BFEE-4D35-A3BF-3C84D55305A2}" type="slidenum">
              <a:rPr kumimoji="1" lang="ja-JP" altLang="en-US" smtClean="0"/>
              <a:t>‹#›</a:t>
            </a:fld>
            <a:endParaRPr kumimoji="1" lang="ja-JP" altLang="en-US"/>
          </a:p>
        </p:txBody>
      </p:sp>
    </p:spTree>
    <p:extLst>
      <p:ext uri="{BB962C8B-B14F-4D97-AF65-F5344CB8AC3E}">
        <p14:creationId xmlns:p14="http://schemas.microsoft.com/office/powerpoint/2010/main" val="351955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4DB27B1-3346-4FFC-A09A-2E998190DD82}" type="datetimeFigureOut">
              <a:rPr kumimoji="1" lang="ja-JP" altLang="en-US" smtClean="0"/>
              <a:t>2019/2/13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5D07DDA-BFEE-4D35-A3BF-3C84D55305A2}" type="slidenum">
              <a:rPr kumimoji="1" lang="ja-JP" altLang="en-US" smtClean="0"/>
              <a:t>‹#›</a:t>
            </a:fld>
            <a:endParaRPr kumimoji="1" lang="ja-JP" altLang="en-US"/>
          </a:p>
        </p:txBody>
      </p:sp>
    </p:spTree>
    <p:extLst>
      <p:ext uri="{BB962C8B-B14F-4D97-AF65-F5344CB8AC3E}">
        <p14:creationId xmlns:p14="http://schemas.microsoft.com/office/powerpoint/2010/main" val="661290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74DB27B1-3346-4FFC-A09A-2E998190DD82}" type="datetimeFigureOut">
              <a:rPr kumimoji="1" lang="ja-JP" altLang="en-US" smtClean="0"/>
              <a:t>2019/2/13</a:t>
            </a:fld>
            <a:endParaRPr kumimoji="1" lang="ja-JP" alt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kumimoji="1" lang="ja-JP" alt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5D07DDA-BFEE-4D35-A3BF-3C84D55305A2}" type="slidenum">
              <a:rPr kumimoji="1" lang="ja-JP" altLang="en-US" smtClean="0"/>
              <a:t>‹#›</a:t>
            </a:fld>
            <a:endParaRPr kumimoji="1" lang="ja-JP" alt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566002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kumimoji="1"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kumimoji="1"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kumimoji="1" sz="1400" kern="1200" baseline="0">
          <a:solidFill>
            <a:schemeClr val="tx2"/>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tm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tmp"/><Relationship Id="rId4" Type="http://schemas.openxmlformats.org/officeDocument/2006/relationships/image" Target="../media/image7.tmp"/></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tsjnet.co.jp/light_converse/lc_spec.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mp4"/><Relationship Id="rId1" Type="http://schemas.openxmlformats.org/officeDocument/2006/relationships/video" Target="NULL" TargetMode="External"/><Relationship Id="rId5" Type="http://schemas.openxmlformats.org/officeDocument/2006/relationships/image" Target="../media/image10.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73070" y="1496244"/>
            <a:ext cx="10045344" cy="2098226"/>
          </a:xfrm>
        </p:spPr>
        <p:txBody>
          <a:bodyPr/>
          <a:lstStyle/>
          <a:p>
            <a:r>
              <a:rPr lang="ja-JP" altLang="en-US" sz="5100" dirty="0" smtClean="0"/>
              <a:t>舞台照明シミュレーションツールの開発</a:t>
            </a:r>
            <a:endParaRPr kumimoji="1" lang="ja-JP" altLang="en-US" sz="5100" dirty="0"/>
          </a:p>
        </p:txBody>
      </p:sp>
      <p:sp>
        <p:nvSpPr>
          <p:cNvPr id="3" name="サブタイトル 2"/>
          <p:cNvSpPr>
            <a:spLocks noGrp="1"/>
          </p:cNvSpPr>
          <p:nvPr>
            <p:ph type="subTitle" idx="1"/>
          </p:nvPr>
        </p:nvSpPr>
        <p:spPr/>
        <p:txBody>
          <a:bodyPr/>
          <a:lstStyle/>
          <a:p>
            <a:r>
              <a:rPr lang="ja-JP" altLang="en-US" dirty="0"/>
              <a:t>雪田研究室 </a:t>
            </a:r>
            <a:r>
              <a:rPr kumimoji="1" lang="en-US" altLang="ja-JP" dirty="0"/>
              <a:t>15K1039 </a:t>
            </a:r>
            <a:r>
              <a:rPr kumimoji="1" lang="ja-JP" altLang="en-US" dirty="0"/>
              <a:t>山本祐大</a:t>
            </a:r>
            <a:endParaRPr kumimoji="1" lang="en-US" altLang="ja-JP" dirty="0"/>
          </a:p>
        </p:txBody>
      </p:sp>
    </p:spTree>
    <p:extLst>
      <p:ext uri="{BB962C8B-B14F-4D97-AF65-F5344CB8AC3E}">
        <p14:creationId xmlns:p14="http://schemas.microsoft.com/office/powerpoint/2010/main" val="8552460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71600" y="685800"/>
            <a:ext cx="9601200" cy="751114"/>
          </a:xfrm>
        </p:spPr>
        <p:txBody>
          <a:bodyPr>
            <a:normAutofit/>
          </a:bodyPr>
          <a:lstStyle/>
          <a:p>
            <a:r>
              <a:rPr kumimoji="1" lang="ja-JP" altLang="en-US" dirty="0"/>
              <a:t>目次</a:t>
            </a:r>
          </a:p>
        </p:txBody>
      </p:sp>
      <p:sp>
        <p:nvSpPr>
          <p:cNvPr id="3" name="テキスト ボックス 2"/>
          <p:cNvSpPr txBox="1"/>
          <p:nvPr/>
        </p:nvSpPr>
        <p:spPr>
          <a:xfrm>
            <a:off x="1394460" y="2011680"/>
            <a:ext cx="9509760" cy="2862322"/>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sz="3000" dirty="0"/>
              <a:t>研究概要</a:t>
            </a:r>
            <a:endParaRPr kumimoji="1" lang="en-US" altLang="ja-JP" sz="3000" dirty="0"/>
          </a:p>
          <a:p>
            <a:pPr marL="285750" indent="-285750">
              <a:buFont typeface="Wingdings" panose="05000000000000000000" pitchFamily="2" charset="2"/>
              <a:buChar char="l"/>
            </a:pPr>
            <a:r>
              <a:rPr lang="ja-JP" altLang="en-US" sz="3000" dirty="0"/>
              <a:t>先行研究および課題</a:t>
            </a:r>
            <a:endParaRPr lang="en-US" altLang="ja-JP" sz="3000" dirty="0"/>
          </a:p>
          <a:p>
            <a:pPr marL="285750" indent="-285750">
              <a:buFont typeface="Wingdings" panose="05000000000000000000" pitchFamily="2" charset="2"/>
              <a:buChar char="l"/>
            </a:pPr>
            <a:r>
              <a:rPr kumimoji="1" lang="ja-JP" altLang="en-US" sz="3000" dirty="0"/>
              <a:t>手法</a:t>
            </a:r>
            <a:endParaRPr kumimoji="1" lang="en-US" altLang="ja-JP" sz="3000" dirty="0"/>
          </a:p>
          <a:p>
            <a:pPr marL="285750" indent="-285750">
              <a:buFont typeface="Wingdings" panose="05000000000000000000" pitchFamily="2" charset="2"/>
              <a:buChar char="l"/>
            </a:pPr>
            <a:r>
              <a:rPr kumimoji="1" lang="ja-JP" altLang="en-US" sz="3000" dirty="0" smtClean="0"/>
              <a:t>実行</a:t>
            </a:r>
            <a:endParaRPr kumimoji="1" lang="en-US" altLang="ja-JP" sz="3000" dirty="0" smtClean="0"/>
          </a:p>
          <a:p>
            <a:pPr marL="285750" indent="-285750">
              <a:buFont typeface="Wingdings" panose="05000000000000000000" pitchFamily="2" charset="2"/>
              <a:buChar char="l"/>
            </a:pPr>
            <a:r>
              <a:rPr lang="ja-JP" altLang="en-US" sz="3000" dirty="0"/>
              <a:t>結論</a:t>
            </a:r>
            <a:endParaRPr kumimoji="1" lang="en-US" altLang="ja-JP" sz="3000" dirty="0"/>
          </a:p>
          <a:p>
            <a:pPr marL="285750" indent="-285750">
              <a:buFont typeface="Wingdings" panose="05000000000000000000" pitchFamily="2" charset="2"/>
              <a:buChar char="l"/>
            </a:pPr>
            <a:r>
              <a:rPr kumimoji="1" lang="ja-JP" altLang="en-US" sz="3000" dirty="0" smtClean="0"/>
              <a:t>文献</a:t>
            </a:r>
            <a:endParaRPr kumimoji="1" lang="ja-JP" altLang="en-US" sz="3000" dirty="0"/>
          </a:p>
        </p:txBody>
      </p:sp>
    </p:spTree>
    <p:extLst>
      <p:ext uri="{BB962C8B-B14F-4D97-AF65-F5344CB8AC3E}">
        <p14:creationId xmlns:p14="http://schemas.microsoft.com/office/powerpoint/2010/main" val="29037078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71600" y="685800"/>
            <a:ext cx="9601200" cy="751114"/>
          </a:xfrm>
        </p:spPr>
        <p:txBody>
          <a:bodyPr>
            <a:normAutofit/>
          </a:bodyPr>
          <a:lstStyle/>
          <a:p>
            <a:r>
              <a:rPr kumimoji="1" lang="en-US" altLang="ja-JP" dirty="0"/>
              <a:t>1. </a:t>
            </a:r>
            <a:r>
              <a:rPr lang="ja-JP" altLang="en-US" dirty="0"/>
              <a:t>研究概要（</a:t>
            </a:r>
            <a:r>
              <a:rPr lang="en-US" altLang="ja-JP" dirty="0"/>
              <a:t>1/2</a:t>
            </a:r>
            <a:r>
              <a:rPr lang="ja-JP" altLang="en-US" dirty="0"/>
              <a:t>）</a:t>
            </a:r>
            <a:endParaRPr kumimoji="1" lang="ja-JP" altLang="en-US" dirty="0"/>
          </a:p>
        </p:txBody>
      </p:sp>
      <p:sp>
        <p:nvSpPr>
          <p:cNvPr id="5" name="テキスト ボックス 4"/>
          <p:cNvSpPr txBox="1"/>
          <p:nvPr/>
        </p:nvSpPr>
        <p:spPr>
          <a:xfrm>
            <a:off x="1371600" y="2943497"/>
            <a:ext cx="9431383" cy="477054"/>
          </a:xfrm>
          <a:prstGeom prst="rect">
            <a:avLst/>
          </a:prstGeom>
          <a:noFill/>
        </p:spPr>
        <p:txBody>
          <a:bodyPr wrap="square" rtlCol="0">
            <a:spAutoFit/>
          </a:bodyPr>
          <a:lstStyle/>
          <a:p>
            <a:r>
              <a:rPr kumimoji="1" lang="ja-JP" altLang="en-US" sz="2500" dirty="0"/>
              <a:t>コンサートの舞台照明向けのシミュレーションツールの開発</a:t>
            </a:r>
          </a:p>
        </p:txBody>
      </p:sp>
      <p:sp>
        <p:nvSpPr>
          <p:cNvPr id="6" name="対角する 2 つの角を丸めた四角形 5"/>
          <p:cNvSpPr/>
          <p:nvPr/>
        </p:nvSpPr>
        <p:spPr>
          <a:xfrm>
            <a:off x="1375954" y="1737360"/>
            <a:ext cx="2146663" cy="905691"/>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000" dirty="0">
                <a:solidFill>
                  <a:schemeClr val="tx1"/>
                </a:solidFill>
              </a:rPr>
              <a:t>テーマ</a:t>
            </a:r>
          </a:p>
        </p:txBody>
      </p:sp>
      <p:sp>
        <p:nvSpPr>
          <p:cNvPr id="7" name="テキスト ボックス 6"/>
          <p:cNvSpPr txBox="1"/>
          <p:nvPr/>
        </p:nvSpPr>
        <p:spPr>
          <a:xfrm>
            <a:off x="1480457" y="4765504"/>
            <a:ext cx="9431383" cy="861774"/>
          </a:xfrm>
          <a:prstGeom prst="rect">
            <a:avLst/>
          </a:prstGeom>
          <a:noFill/>
        </p:spPr>
        <p:txBody>
          <a:bodyPr wrap="square" rtlCol="0">
            <a:spAutoFit/>
          </a:bodyPr>
          <a:lstStyle/>
          <a:p>
            <a:r>
              <a:rPr kumimoji="1" lang="ja-JP" altLang="en-US" sz="2500" dirty="0"/>
              <a:t>コンサートの照明演出を</a:t>
            </a:r>
            <a:r>
              <a:rPr kumimoji="1" lang="en-US" altLang="ja-JP" sz="2500" dirty="0"/>
              <a:t>3D</a:t>
            </a:r>
            <a:r>
              <a:rPr kumimoji="1" lang="ja-JP" altLang="en-US" sz="2500" dirty="0"/>
              <a:t>モデルとして仮想的に視覚化することにより事前の照明演出設計を補助する</a:t>
            </a:r>
          </a:p>
        </p:txBody>
      </p:sp>
      <p:sp>
        <p:nvSpPr>
          <p:cNvPr id="8" name="対角する 2 つの角を丸めた四角形 7"/>
          <p:cNvSpPr/>
          <p:nvPr/>
        </p:nvSpPr>
        <p:spPr>
          <a:xfrm>
            <a:off x="1375954" y="3738118"/>
            <a:ext cx="2146663" cy="905691"/>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000" dirty="0">
                <a:solidFill>
                  <a:schemeClr val="tx1"/>
                </a:solidFill>
              </a:rPr>
              <a:t>目的</a:t>
            </a:r>
          </a:p>
        </p:txBody>
      </p:sp>
    </p:spTree>
    <p:extLst>
      <p:ext uri="{BB962C8B-B14F-4D97-AF65-F5344CB8AC3E}">
        <p14:creationId xmlns:p14="http://schemas.microsoft.com/office/powerpoint/2010/main" val="29596934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371600" y="685800"/>
            <a:ext cx="9601200" cy="751114"/>
          </a:xfrm>
        </p:spPr>
        <p:txBody>
          <a:bodyPr>
            <a:normAutofit/>
          </a:bodyPr>
          <a:lstStyle/>
          <a:p>
            <a:r>
              <a:rPr kumimoji="1" lang="en-US" altLang="ja-JP" dirty="0"/>
              <a:t>1. </a:t>
            </a:r>
            <a:r>
              <a:rPr lang="ja-JP" altLang="en-US" dirty="0"/>
              <a:t>研究概要（</a:t>
            </a:r>
            <a:r>
              <a:rPr lang="en-US" altLang="ja-JP" dirty="0"/>
              <a:t>2/2</a:t>
            </a:r>
            <a:r>
              <a:rPr lang="ja-JP" altLang="en-US" dirty="0"/>
              <a:t>）</a:t>
            </a:r>
            <a:endParaRPr kumimoji="1" lang="ja-JP" altLang="en-US" dirty="0"/>
          </a:p>
        </p:txBody>
      </p:sp>
      <p:sp>
        <p:nvSpPr>
          <p:cNvPr id="6" name="対角する 2 つの角を丸めた四角形 5"/>
          <p:cNvSpPr/>
          <p:nvPr/>
        </p:nvSpPr>
        <p:spPr>
          <a:xfrm>
            <a:off x="1314994" y="1268923"/>
            <a:ext cx="2146663" cy="905691"/>
          </a:xfrm>
          <a:prstGeom prst="round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4000" dirty="0">
                <a:solidFill>
                  <a:schemeClr val="tx1"/>
                </a:solidFill>
              </a:rPr>
              <a:t>背景</a:t>
            </a:r>
            <a:endParaRPr kumimoji="1" lang="ja-JP" altLang="en-US" sz="4000" dirty="0">
              <a:solidFill>
                <a:schemeClr val="tx1"/>
              </a:solidFill>
            </a:endParaRPr>
          </a:p>
        </p:txBody>
      </p:sp>
      <p:sp>
        <p:nvSpPr>
          <p:cNvPr id="5" name="テキスト ボックス 4"/>
          <p:cNvSpPr txBox="1"/>
          <p:nvPr/>
        </p:nvSpPr>
        <p:spPr>
          <a:xfrm>
            <a:off x="6949440" y="4884681"/>
            <a:ext cx="5115553" cy="1477328"/>
          </a:xfrm>
          <a:prstGeom prst="rect">
            <a:avLst/>
          </a:prstGeom>
          <a:noFill/>
        </p:spPr>
        <p:txBody>
          <a:bodyPr wrap="square" rtlCol="0">
            <a:spAutoFit/>
          </a:bodyPr>
          <a:lstStyle/>
          <a:p>
            <a:r>
              <a:rPr kumimoji="1" lang="ja-JP" altLang="en-US" sz="3000" dirty="0"/>
              <a:t>会場にいなくても</a:t>
            </a:r>
            <a:r>
              <a:rPr lang="ja-JP" altLang="en-US" sz="3000" dirty="0"/>
              <a:t>、</a:t>
            </a:r>
            <a:r>
              <a:rPr kumimoji="1" lang="ja-JP" altLang="en-US" sz="3000" dirty="0"/>
              <a:t>事前に、</a:t>
            </a:r>
            <a:endParaRPr kumimoji="1" lang="en-US" altLang="ja-JP" sz="3000" dirty="0"/>
          </a:p>
          <a:p>
            <a:r>
              <a:rPr kumimoji="1" lang="ja-JP" altLang="en-US" sz="3000" dirty="0"/>
              <a:t>視覚化しシミュレーションしたい</a:t>
            </a:r>
          </a:p>
        </p:txBody>
      </p:sp>
      <p:sp>
        <p:nvSpPr>
          <p:cNvPr id="7" name="横巻き 6"/>
          <p:cNvSpPr/>
          <p:nvPr/>
        </p:nvSpPr>
        <p:spPr>
          <a:xfrm>
            <a:off x="1258388" y="1902096"/>
            <a:ext cx="5038528" cy="2628469"/>
          </a:xfrm>
          <a:prstGeom prst="horizontalScroll">
            <a:avLst/>
          </a:prstGeom>
          <a:solidFill>
            <a:srgbClr val="0070C0">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音楽業界の現状</a:t>
            </a:r>
            <a:endParaRPr lang="en-US" altLang="ja-JP" dirty="0">
              <a:solidFill>
                <a:schemeClr val="tx1"/>
              </a:solidFill>
            </a:endParaRPr>
          </a:p>
          <a:p>
            <a:pPr marL="342900" indent="-342900">
              <a:buFont typeface="Wingdings" panose="05000000000000000000" pitchFamily="2" charset="2"/>
              <a:buChar char="ü"/>
            </a:pPr>
            <a:r>
              <a:rPr lang="ja-JP" altLang="en-US" dirty="0">
                <a:solidFill>
                  <a:schemeClr val="tx1"/>
                </a:solidFill>
              </a:rPr>
              <a:t>施設減少、　設備投資等に起因する</a:t>
            </a:r>
            <a:endParaRPr lang="en-US" altLang="ja-JP" dirty="0">
              <a:solidFill>
                <a:schemeClr val="tx1"/>
              </a:solidFill>
            </a:endParaRPr>
          </a:p>
          <a:p>
            <a:r>
              <a:rPr lang="ja-JP" altLang="en-US" dirty="0">
                <a:solidFill>
                  <a:schemeClr val="tx1"/>
                </a:solidFill>
              </a:rPr>
              <a:t>　  会場使用料の高騰化</a:t>
            </a:r>
            <a:endParaRPr lang="en-US" altLang="ja-JP" dirty="0">
              <a:solidFill>
                <a:schemeClr val="tx1"/>
              </a:solidFill>
            </a:endParaRPr>
          </a:p>
          <a:p>
            <a:pPr marL="342900" indent="-342900">
              <a:buFont typeface="Wingdings" panose="05000000000000000000" pitchFamily="2" charset="2"/>
              <a:buChar char="ü"/>
            </a:pPr>
            <a:r>
              <a:rPr lang="ja-JP" altLang="en-US" dirty="0">
                <a:solidFill>
                  <a:schemeClr val="tx1"/>
                </a:solidFill>
              </a:rPr>
              <a:t>会場利用時間の短縮化</a:t>
            </a:r>
            <a:endParaRPr lang="en-US" altLang="ja-JP" dirty="0">
              <a:solidFill>
                <a:schemeClr val="tx1"/>
              </a:solidFill>
            </a:endParaRPr>
          </a:p>
          <a:p>
            <a:pPr marL="342900" indent="-342900">
              <a:buFont typeface="Wingdings" panose="05000000000000000000" pitchFamily="2" charset="2"/>
              <a:buChar char="ü"/>
            </a:pPr>
            <a:r>
              <a:rPr lang="ja-JP" altLang="en-US" dirty="0">
                <a:solidFill>
                  <a:schemeClr val="tx1"/>
                </a:solidFill>
              </a:rPr>
              <a:t>照明設置などの舞台設営の負担増加</a:t>
            </a:r>
            <a:endParaRPr lang="en-US" altLang="ja-JP" dirty="0">
              <a:solidFill>
                <a:schemeClr val="tx1"/>
              </a:solidFill>
            </a:endParaRPr>
          </a:p>
          <a:p>
            <a:endParaRPr kumimoji="1" lang="ja-JP" altLang="en-US" dirty="0">
              <a:solidFill>
                <a:schemeClr val="tx1"/>
              </a:solidFill>
            </a:endParaRPr>
          </a:p>
        </p:txBody>
      </p:sp>
      <p:sp>
        <p:nvSpPr>
          <p:cNvPr id="8" name="横巻き 7"/>
          <p:cNvSpPr/>
          <p:nvPr/>
        </p:nvSpPr>
        <p:spPr>
          <a:xfrm>
            <a:off x="1686152" y="3999127"/>
            <a:ext cx="4937026" cy="2771787"/>
          </a:xfrm>
          <a:prstGeom prst="horizontalScroll">
            <a:avLst/>
          </a:prstGeom>
          <a:solidFill>
            <a:srgbClr val="FFCC99">
              <a:alpha val="30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コンサートツアーの特徴</a:t>
            </a:r>
            <a:endParaRPr lang="en-US" altLang="ja-JP" dirty="0">
              <a:solidFill>
                <a:schemeClr val="tx1"/>
              </a:solidFill>
            </a:endParaRPr>
          </a:p>
          <a:p>
            <a:pPr marL="342900" indent="-342900">
              <a:buFont typeface="Wingdings" panose="05000000000000000000" pitchFamily="2" charset="2"/>
              <a:buChar char="ü"/>
            </a:pPr>
            <a:r>
              <a:rPr lang="ja-JP" altLang="ja-JP" dirty="0">
                <a:solidFill>
                  <a:schemeClr val="tx1"/>
                </a:solidFill>
              </a:rPr>
              <a:t>同等の演目内容を複数の会場で行う</a:t>
            </a:r>
          </a:p>
          <a:p>
            <a:pPr marL="342900" indent="-342900">
              <a:buFont typeface="Wingdings" panose="05000000000000000000" pitchFamily="2" charset="2"/>
              <a:buChar char="ü"/>
            </a:pPr>
            <a:r>
              <a:rPr lang="ja-JP" altLang="ja-JP" dirty="0">
                <a:solidFill>
                  <a:schemeClr val="tx1"/>
                </a:solidFill>
              </a:rPr>
              <a:t>大規模な設備の設置、移動、解体を</a:t>
            </a:r>
            <a:r>
              <a:rPr lang="ja-JP" altLang="en-US" dirty="0">
                <a:solidFill>
                  <a:schemeClr val="tx1"/>
                </a:solidFill>
              </a:rPr>
              <a:t>一定期間内で</a:t>
            </a:r>
            <a:r>
              <a:rPr lang="ja-JP" altLang="ja-JP" dirty="0">
                <a:solidFill>
                  <a:schemeClr val="tx1"/>
                </a:solidFill>
              </a:rPr>
              <a:t>繰り返す</a:t>
            </a:r>
            <a:endParaRPr lang="en-US" altLang="ja-JP" dirty="0">
              <a:solidFill>
                <a:schemeClr val="tx1"/>
              </a:solidFill>
            </a:endParaRPr>
          </a:p>
          <a:p>
            <a:pPr marL="342900" indent="-342900">
              <a:buFont typeface="Wingdings" panose="05000000000000000000" pitchFamily="2" charset="2"/>
              <a:buChar char="ü"/>
            </a:pPr>
            <a:r>
              <a:rPr lang="ja-JP" altLang="ja-JP" dirty="0">
                <a:solidFill>
                  <a:schemeClr val="tx1"/>
                </a:solidFill>
              </a:rPr>
              <a:t>異なる会場で同じ演出ができるよう設営する</a:t>
            </a:r>
          </a:p>
        </p:txBody>
      </p:sp>
      <p:sp>
        <p:nvSpPr>
          <p:cNvPr id="9" name="雲形吹き出し 8"/>
          <p:cNvSpPr/>
          <p:nvPr/>
        </p:nvSpPr>
        <p:spPr>
          <a:xfrm>
            <a:off x="7698377" y="1342876"/>
            <a:ext cx="2403566" cy="2063931"/>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ysClr val="windowText" lastClr="000000"/>
                </a:solidFill>
              </a:rPr>
              <a:t>会場によって出来る演出が異なってしまった</a:t>
            </a:r>
            <a:r>
              <a:rPr lang="en-US" altLang="ja-JP" dirty="0">
                <a:solidFill>
                  <a:sysClr val="windowText" lastClr="000000"/>
                </a:solidFill>
              </a:rPr>
              <a:t>…</a:t>
            </a:r>
            <a:endParaRPr kumimoji="1" lang="ja-JP" altLang="en-US" dirty="0">
              <a:solidFill>
                <a:sysClr val="windowText" lastClr="000000"/>
              </a:solidFill>
            </a:endParaRPr>
          </a:p>
        </p:txBody>
      </p:sp>
      <p:sp>
        <p:nvSpPr>
          <p:cNvPr id="10" name="雲形吹き出し 9"/>
          <p:cNvSpPr/>
          <p:nvPr/>
        </p:nvSpPr>
        <p:spPr>
          <a:xfrm>
            <a:off x="9078686" y="2174614"/>
            <a:ext cx="2403566" cy="2063931"/>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ysClr val="windowText" lastClr="000000"/>
                </a:solidFill>
              </a:rPr>
              <a:t>想像してた演出と異なる</a:t>
            </a:r>
            <a:r>
              <a:rPr lang="en-US" altLang="ja-JP" dirty="0">
                <a:solidFill>
                  <a:sysClr val="windowText" lastClr="000000"/>
                </a:solidFill>
              </a:rPr>
              <a:t>…</a:t>
            </a:r>
            <a:endParaRPr lang="ja-JP" altLang="en-US" dirty="0">
              <a:solidFill>
                <a:sysClr val="windowText" lastClr="000000"/>
              </a:solidFill>
            </a:endParaRPr>
          </a:p>
        </p:txBody>
      </p:sp>
      <p:sp>
        <p:nvSpPr>
          <p:cNvPr id="3" name="右矢印 2"/>
          <p:cNvSpPr/>
          <p:nvPr/>
        </p:nvSpPr>
        <p:spPr>
          <a:xfrm>
            <a:off x="6649614" y="3216330"/>
            <a:ext cx="1027611" cy="1116805"/>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717412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alpha val="81000"/>
          </a:schemeClr>
        </a:solidFill>
        <a:effectLst/>
      </p:bgPr>
    </p:bg>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en-US" altLang="ja-JP" dirty="0"/>
              <a:t>2.</a:t>
            </a:r>
            <a:r>
              <a:rPr kumimoji="1" lang="ja-JP" altLang="en-US" dirty="0"/>
              <a:t>　</a:t>
            </a:r>
            <a:r>
              <a:rPr lang="ja-JP" altLang="en-US" dirty="0"/>
              <a:t>先行研究および課題</a:t>
            </a:r>
            <a:endParaRPr kumimoji="1" lang="ja-JP" altLang="en-US" dirty="0"/>
          </a:p>
        </p:txBody>
      </p:sp>
      <p:pic>
        <p:nvPicPr>
          <p:cNvPr id="10" name="図 9" descr="画面の領域"/>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4621" y="459979"/>
            <a:ext cx="2527430" cy="1219263"/>
          </a:xfrm>
          <a:prstGeom prst="rect">
            <a:avLst/>
          </a:prstGeom>
          <a:effectLst>
            <a:softEdge rad="63500"/>
          </a:effectLst>
        </p:spPr>
      </p:pic>
      <p:pic>
        <p:nvPicPr>
          <p:cNvPr id="11" name="図 10" descr="画面の領域"/>
          <p:cNvPicPr>
            <a:picLocks noChangeAspect="1"/>
          </p:cNvPicPr>
          <p:nvPr/>
        </p:nvPicPr>
        <p:blipFill rotWithShape="1">
          <a:blip r:embed="rId4">
            <a:extLst>
              <a:ext uri="{28A0092B-C50C-407E-A947-70E740481C1C}">
                <a14:useLocalDpi xmlns:a14="http://schemas.microsoft.com/office/drawing/2010/main" val="0"/>
              </a:ext>
            </a:extLst>
          </a:blip>
          <a:srcRect l="-294" t="1" r="65" b="-1"/>
          <a:stretch/>
        </p:blipFill>
        <p:spPr>
          <a:xfrm>
            <a:off x="9441712" y="1425789"/>
            <a:ext cx="2420679" cy="1491821"/>
          </a:xfrm>
          <a:prstGeom prst="rect">
            <a:avLst/>
          </a:prstGeom>
          <a:effectLst>
            <a:softEdge rad="88900"/>
          </a:effectLst>
        </p:spPr>
      </p:pic>
      <p:sp>
        <p:nvSpPr>
          <p:cNvPr id="13" name="テキスト ボックス 12"/>
          <p:cNvSpPr txBox="1"/>
          <p:nvPr/>
        </p:nvSpPr>
        <p:spPr>
          <a:xfrm>
            <a:off x="1371600" y="2038381"/>
            <a:ext cx="8070112" cy="2323713"/>
          </a:xfrm>
          <a:prstGeom prst="rect">
            <a:avLst/>
          </a:prstGeom>
          <a:noFill/>
        </p:spPr>
        <p:txBody>
          <a:bodyPr wrap="square" rtlCol="0">
            <a:spAutoFit/>
          </a:bodyPr>
          <a:lstStyle/>
          <a:p>
            <a:r>
              <a:rPr kumimoji="1" lang="ja-JP" altLang="en-US" sz="2500" dirty="0"/>
              <a:t>商用としていくつかの既存の</a:t>
            </a:r>
            <a:r>
              <a:rPr kumimoji="1" lang="ja-JP" altLang="en-US" sz="2500" dirty="0" smtClean="0"/>
              <a:t>ソフトウェア</a:t>
            </a:r>
            <a:r>
              <a:rPr kumimoji="1" lang="en-US" altLang="ja-JP" sz="2500" dirty="0" smtClean="0"/>
              <a:t>[1]</a:t>
            </a:r>
            <a:r>
              <a:rPr kumimoji="1" lang="ja-JP" altLang="en-US" sz="2500" dirty="0" smtClean="0"/>
              <a:t>が</a:t>
            </a:r>
            <a:r>
              <a:rPr kumimoji="1" lang="ja-JP" altLang="en-US" sz="2500" dirty="0"/>
              <a:t>あるが</a:t>
            </a:r>
            <a:r>
              <a:rPr kumimoji="1" lang="ja-JP" altLang="en-US" sz="2500" dirty="0" smtClean="0"/>
              <a:t>、</a:t>
            </a:r>
            <a:endParaRPr kumimoji="1" lang="en-US" altLang="ja-JP" sz="2500" dirty="0"/>
          </a:p>
          <a:p>
            <a:pPr marL="457200" indent="-457200">
              <a:buFont typeface="Arial" panose="020B0604020202020204" pitchFamily="34" charset="0"/>
              <a:buChar char="•"/>
            </a:pPr>
            <a:r>
              <a:rPr kumimoji="1" lang="ja-JP" altLang="en-US" sz="3000" dirty="0" smtClean="0"/>
              <a:t>高額</a:t>
            </a:r>
            <a:endParaRPr lang="en-US" altLang="ja-JP" sz="3000" dirty="0"/>
          </a:p>
          <a:p>
            <a:pPr marL="457200" indent="-457200">
              <a:buFont typeface="Arial" panose="020B0604020202020204" pitchFamily="34" charset="0"/>
              <a:buChar char="•"/>
            </a:pPr>
            <a:r>
              <a:rPr kumimoji="1" lang="ja-JP" altLang="en-US" sz="3000" dirty="0" smtClean="0"/>
              <a:t>調光</a:t>
            </a:r>
            <a:r>
              <a:rPr kumimoji="1" lang="ja-JP" altLang="en-US" sz="3000" dirty="0"/>
              <a:t>卓による入力、照明技術が必要</a:t>
            </a:r>
            <a:endParaRPr kumimoji="1" lang="en-US" altLang="ja-JP" sz="3000" dirty="0"/>
          </a:p>
          <a:p>
            <a:pPr marL="342900" indent="-342900">
              <a:buFont typeface="Wingdings" panose="05000000000000000000" pitchFamily="2" charset="2"/>
              <a:buChar char="ü"/>
            </a:pPr>
            <a:endParaRPr lang="en-US" altLang="ja-JP" sz="3000" dirty="0"/>
          </a:p>
          <a:p>
            <a:r>
              <a:rPr kumimoji="1" lang="ja-JP" altLang="en-US" sz="3000" b="1" u="sng" dirty="0" smtClean="0">
                <a:effectLst>
                  <a:outerShdw blurRad="38100" dist="38100" dir="2700000" algn="tl">
                    <a:srgbClr val="000000">
                      <a:alpha val="43137"/>
                    </a:srgbClr>
                  </a:outerShdw>
                </a:effectLst>
              </a:rPr>
              <a:t>誰</a:t>
            </a:r>
            <a:r>
              <a:rPr kumimoji="1" lang="ja-JP" altLang="en-US" sz="3000" b="1" u="sng" dirty="0">
                <a:effectLst>
                  <a:outerShdw blurRad="38100" dist="38100" dir="2700000" algn="tl">
                    <a:srgbClr val="000000">
                      <a:alpha val="43137"/>
                    </a:srgbClr>
                  </a:outerShdw>
                </a:effectLst>
              </a:rPr>
              <a:t>でも簡単に使える</a:t>
            </a:r>
            <a:r>
              <a:rPr kumimoji="1" lang="ja-JP" altLang="en-US" sz="3000" dirty="0"/>
              <a:t>ツールにする</a:t>
            </a:r>
          </a:p>
        </p:txBody>
      </p:sp>
      <p:sp>
        <p:nvSpPr>
          <p:cNvPr id="14" name="大波 13"/>
          <p:cNvSpPr/>
          <p:nvPr/>
        </p:nvSpPr>
        <p:spPr>
          <a:xfrm>
            <a:off x="8561565" y="2911689"/>
            <a:ext cx="3019581" cy="1763041"/>
          </a:xfrm>
          <a:prstGeom prst="wave">
            <a:avLst>
              <a:gd name="adj1" fmla="val 12500"/>
              <a:gd name="adj2" fmla="val 61"/>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kumimoji="1" lang="ja-JP" altLang="en-US" dirty="0" smtClean="0">
                <a:solidFill>
                  <a:sysClr val="windowText" lastClr="000000"/>
                </a:solidFill>
              </a:rPr>
              <a:t>舞台の技術に関する知識がない人でも照明演出したい</a:t>
            </a:r>
            <a:endParaRPr kumimoji="1" lang="en-US" altLang="ja-JP" dirty="0" smtClean="0">
              <a:solidFill>
                <a:sysClr val="windowText" lastClr="000000"/>
              </a:solidFill>
            </a:endParaRPr>
          </a:p>
        </p:txBody>
      </p:sp>
      <p:sp>
        <p:nvSpPr>
          <p:cNvPr id="5" name="円/楕円 4"/>
          <p:cNvSpPr/>
          <p:nvPr/>
        </p:nvSpPr>
        <p:spPr>
          <a:xfrm>
            <a:off x="1775327" y="4210566"/>
            <a:ext cx="3022600" cy="2955025"/>
          </a:xfrm>
          <a:prstGeom prst="ellipse">
            <a:avLst/>
          </a:prstGeom>
          <a:solidFill>
            <a:srgbClr val="FFCC66"/>
          </a:solidFill>
          <a:ln>
            <a:solidFill>
              <a:srgbClr val="FFCC66"/>
            </a:solidFill>
          </a:ln>
          <a:effectLst>
            <a:softEdge rad="584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dirty="0" smtClean="0">
                <a:solidFill>
                  <a:srgbClr val="FF0066"/>
                </a:solidFill>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rPr>
              <a:t>Point</a:t>
            </a:r>
            <a:endParaRPr lang="ja-JP" altLang="en-US" sz="3200" dirty="0">
              <a:solidFill>
                <a:srgbClr val="FF0066"/>
              </a:solidFill>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endParaRPr>
          </a:p>
        </p:txBody>
      </p:sp>
      <p:grpSp>
        <p:nvGrpSpPr>
          <p:cNvPr id="2" name="グループ化 1"/>
          <p:cNvGrpSpPr/>
          <p:nvPr/>
        </p:nvGrpSpPr>
        <p:grpSpPr>
          <a:xfrm>
            <a:off x="4107394" y="4890584"/>
            <a:ext cx="5480566" cy="1342131"/>
            <a:chOff x="3101312" y="5015126"/>
            <a:chExt cx="7550739" cy="1314940"/>
          </a:xfrm>
        </p:grpSpPr>
        <p:sp>
          <p:nvSpPr>
            <p:cNvPr id="3" name="角丸四角形吹き出し 2"/>
            <p:cNvSpPr/>
            <p:nvPr/>
          </p:nvSpPr>
          <p:spPr>
            <a:xfrm>
              <a:off x="3101312" y="5015126"/>
              <a:ext cx="7550739" cy="1314940"/>
            </a:xfrm>
            <a:prstGeom prst="wedgeRoundRectCallout">
              <a:avLst>
                <a:gd name="adj1" fmla="val -37665"/>
                <a:gd name="adj2" fmla="val 63359"/>
                <a:gd name="adj3" fmla="val 16667"/>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6" name="テキスト ボックス 5"/>
            <p:cNvSpPr txBox="1"/>
            <p:nvPr/>
          </p:nvSpPr>
          <p:spPr>
            <a:xfrm>
              <a:off x="3241869" y="5237300"/>
              <a:ext cx="7269622" cy="904624"/>
            </a:xfrm>
            <a:prstGeom prst="rect">
              <a:avLst/>
            </a:prstGeom>
            <a:noFill/>
          </p:spPr>
          <p:txBody>
            <a:bodyPr wrap="square" rtlCol="0">
              <a:spAutoFit/>
            </a:bodyPr>
            <a:lstStyle/>
            <a:p>
              <a:pPr marL="285750" indent="-285750">
                <a:buFont typeface="Wingdings" panose="05000000000000000000" pitchFamily="2" charset="2"/>
                <a:buChar char="ü"/>
              </a:pPr>
              <a:r>
                <a:rPr kumimoji="1" lang="ja-JP" altLang="en-US" dirty="0" smtClean="0"/>
                <a:t>シミュレーションする対象を照明演出とする</a:t>
              </a:r>
              <a:endParaRPr lang="en-US" altLang="ja-JP" dirty="0"/>
            </a:p>
            <a:p>
              <a:pPr marL="285750" indent="-285750">
                <a:buFont typeface="Wingdings" panose="05000000000000000000" pitchFamily="2" charset="2"/>
                <a:buChar char="ü"/>
              </a:pPr>
              <a:r>
                <a:rPr kumimoji="1" lang="ja-JP" altLang="en-US" dirty="0" smtClean="0"/>
                <a:t>一般的に使われている環境で使用可能</a:t>
              </a:r>
              <a:endParaRPr lang="en-US" altLang="ja-JP" dirty="0"/>
            </a:p>
            <a:p>
              <a:pPr marL="285750" indent="-285750">
                <a:buFont typeface="Wingdings" panose="05000000000000000000" pitchFamily="2" charset="2"/>
                <a:buChar char="ü"/>
              </a:pPr>
              <a:r>
                <a:rPr kumimoji="1" lang="ja-JP" altLang="en-US" dirty="0" smtClean="0"/>
                <a:t>リアルタイムに表示できる</a:t>
              </a:r>
              <a:endParaRPr kumimoji="1" lang="ja-JP" altLang="en-US" dirty="0"/>
            </a:p>
          </p:txBody>
        </p:sp>
      </p:grpSp>
    </p:spTree>
    <p:extLst>
      <p:ext uri="{BB962C8B-B14F-4D97-AF65-F5344CB8AC3E}">
        <p14:creationId xmlns:p14="http://schemas.microsoft.com/office/powerpoint/2010/main" val="23482644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1371599" y="685800"/>
            <a:ext cx="5783180" cy="1263528"/>
          </a:xfrm>
        </p:spPr>
        <p:txBody>
          <a:bodyPr>
            <a:normAutofit/>
          </a:bodyPr>
          <a:lstStyle/>
          <a:p>
            <a:r>
              <a:rPr lang="en-US" altLang="ja-JP" dirty="0"/>
              <a:t>3</a:t>
            </a:r>
            <a:r>
              <a:rPr kumimoji="1" lang="en-US" altLang="ja-JP" dirty="0"/>
              <a:t>.</a:t>
            </a:r>
            <a:r>
              <a:rPr kumimoji="1" lang="ja-JP" altLang="en-US" dirty="0"/>
              <a:t>　手法 </a:t>
            </a:r>
            <a:r>
              <a:rPr lang="ja-JP" altLang="en-US" dirty="0"/>
              <a:t>（</a:t>
            </a:r>
            <a:r>
              <a:rPr lang="en-US" altLang="ja-JP" dirty="0" smtClean="0"/>
              <a:t>1/4</a:t>
            </a:r>
            <a:r>
              <a:rPr lang="ja-JP" altLang="en-US" dirty="0" smtClean="0"/>
              <a:t>）</a:t>
            </a:r>
            <a:endParaRPr kumimoji="1" lang="ja-JP" altLang="en-US" dirty="0"/>
          </a:p>
        </p:txBody>
      </p:sp>
      <p:sp>
        <p:nvSpPr>
          <p:cNvPr id="30" name="テキスト ボックス 29"/>
          <p:cNvSpPr txBox="1"/>
          <p:nvPr/>
        </p:nvSpPr>
        <p:spPr>
          <a:xfrm>
            <a:off x="1333731" y="1480202"/>
            <a:ext cx="2310063" cy="400110"/>
          </a:xfrm>
          <a:prstGeom prst="rect">
            <a:avLst/>
          </a:prstGeom>
          <a:noFill/>
        </p:spPr>
        <p:txBody>
          <a:bodyPr wrap="square" rtlCol="0">
            <a:spAutoFit/>
          </a:bodyPr>
          <a:lstStyle/>
          <a:p>
            <a:r>
              <a:rPr lang="ja-JP" altLang="en-US" sz="2000" b="1" dirty="0" smtClean="0"/>
              <a:t>システム概要</a:t>
            </a:r>
            <a:endParaRPr kumimoji="1" lang="ja-JP" altLang="en-US" sz="2000" b="1" dirty="0"/>
          </a:p>
        </p:txBody>
      </p:sp>
      <p:grpSp>
        <p:nvGrpSpPr>
          <p:cNvPr id="2" name="グループ化 1"/>
          <p:cNvGrpSpPr/>
          <p:nvPr/>
        </p:nvGrpSpPr>
        <p:grpSpPr>
          <a:xfrm>
            <a:off x="9959423" y="999264"/>
            <a:ext cx="1631895" cy="1617418"/>
            <a:chOff x="3971353" y="5061481"/>
            <a:chExt cx="1631895" cy="1617418"/>
          </a:xfrm>
        </p:grpSpPr>
        <p:sp>
          <p:nvSpPr>
            <p:cNvPr id="34" name="雲形吹き出し 33"/>
            <p:cNvSpPr/>
            <p:nvPr/>
          </p:nvSpPr>
          <p:spPr>
            <a:xfrm rot="1648967">
              <a:off x="3971353" y="5061481"/>
              <a:ext cx="1627216" cy="1617418"/>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ysClr val="windowText" lastClr="000000"/>
                </a:solidFill>
              </a:endParaRPr>
            </a:p>
          </p:txBody>
        </p:sp>
        <p:sp>
          <p:nvSpPr>
            <p:cNvPr id="35" name="テキスト ボックス 34"/>
            <p:cNvSpPr txBox="1"/>
            <p:nvPr/>
          </p:nvSpPr>
          <p:spPr>
            <a:xfrm>
              <a:off x="4190441" y="5397230"/>
              <a:ext cx="1412807" cy="707886"/>
            </a:xfrm>
            <a:prstGeom prst="rect">
              <a:avLst/>
            </a:prstGeom>
            <a:noFill/>
          </p:spPr>
          <p:txBody>
            <a:bodyPr wrap="square" rtlCol="0">
              <a:spAutoFit/>
            </a:bodyPr>
            <a:lstStyle/>
            <a:p>
              <a:r>
                <a:rPr kumimoji="1" lang="ja-JP" altLang="en-US" sz="2000" dirty="0"/>
                <a:t>なぜ</a:t>
              </a:r>
              <a:r>
                <a:rPr kumimoji="1" lang="en-US" altLang="ja-JP" sz="2000" dirty="0"/>
                <a:t>Three.js??</a:t>
              </a:r>
              <a:endParaRPr kumimoji="1" lang="ja-JP" altLang="en-US" sz="2000" dirty="0"/>
            </a:p>
          </p:txBody>
        </p:sp>
      </p:grpSp>
      <p:sp>
        <p:nvSpPr>
          <p:cNvPr id="3" name="右矢印 2"/>
          <p:cNvSpPr/>
          <p:nvPr/>
        </p:nvSpPr>
        <p:spPr>
          <a:xfrm>
            <a:off x="8669512" y="3963866"/>
            <a:ext cx="1008522" cy="7284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8972896" y="4814716"/>
            <a:ext cx="2776301" cy="1015663"/>
          </a:xfrm>
          <a:prstGeom prst="rect">
            <a:avLst/>
          </a:prstGeom>
          <a:noFill/>
        </p:spPr>
        <p:txBody>
          <a:bodyPr wrap="square" rtlCol="0">
            <a:spAutoFit/>
          </a:bodyPr>
          <a:lstStyle/>
          <a:p>
            <a:r>
              <a:rPr lang="ja-JP" altLang="en-US" sz="3000" dirty="0"/>
              <a:t>簡単に誰でも表示できる</a:t>
            </a:r>
            <a:endParaRPr kumimoji="1" lang="ja-JP" altLang="en-US" sz="3000" dirty="0"/>
          </a:p>
        </p:txBody>
      </p:sp>
      <p:grpSp>
        <p:nvGrpSpPr>
          <p:cNvPr id="6" name="グループ化 5"/>
          <p:cNvGrpSpPr/>
          <p:nvPr/>
        </p:nvGrpSpPr>
        <p:grpSpPr>
          <a:xfrm>
            <a:off x="8163935" y="2211536"/>
            <a:ext cx="3204263" cy="1629966"/>
            <a:chOff x="3795594" y="5402281"/>
            <a:chExt cx="2635781" cy="1177194"/>
          </a:xfrm>
        </p:grpSpPr>
        <p:sp>
          <p:nvSpPr>
            <p:cNvPr id="16" name="テキスト ボックス 15"/>
            <p:cNvSpPr txBox="1"/>
            <p:nvPr/>
          </p:nvSpPr>
          <p:spPr>
            <a:xfrm>
              <a:off x="3795594" y="5752619"/>
              <a:ext cx="2310063" cy="400110"/>
            </a:xfrm>
            <a:prstGeom prst="rect">
              <a:avLst/>
            </a:prstGeom>
            <a:noFill/>
          </p:spPr>
          <p:txBody>
            <a:bodyPr wrap="square" rtlCol="0">
              <a:spAutoFit/>
            </a:bodyPr>
            <a:lstStyle/>
            <a:p>
              <a:r>
                <a:rPr lang="ja-JP" altLang="en-US" sz="2000" b="1" dirty="0"/>
                <a:t>ソフトウェア</a:t>
              </a:r>
              <a:endParaRPr kumimoji="1" lang="ja-JP" altLang="en-US" sz="2000" b="1" dirty="0"/>
            </a:p>
          </p:txBody>
        </p:sp>
        <p:sp>
          <p:nvSpPr>
            <p:cNvPr id="17" name="テキスト ボックス 16"/>
            <p:cNvSpPr txBox="1"/>
            <p:nvPr/>
          </p:nvSpPr>
          <p:spPr>
            <a:xfrm>
              <a:off x="4121312" y="6179365"/>
              <a:ext cx="2310063" cy="400110"/>
            </a:xfrm>
            <a:prstGeom prst="rect">
              <a:avLst/>
            </a:prstGeom>
            <a:noFill/>
          </p:spPr>
          <p:txBody>
            <a:bodyPr wrap="square" rtlCol="0">
              <a:spAutoFit/>
            </a:bodyPr>
            <a:lstStyle/>
            <a:p>
              <a:r>
                <a:rPr lang="ja-JP" altLang="en-US" sz="2000" b="1" dirty="0"/>
                <a:t>ハードウェア</a:t>
              </a:r>
              <a:endParaRPr kumimoji="1" lang="ja-JP" altLang="en-US" sz="2000" b="1" dirty="0"/>
            </a:p>
          </p:txBody>
        </p:sp>
        <p:sp>
          <p:nvSpPr>
            <p:cNvPr id="5" name="乗算記号 4"/>
            <p:cNvSpPr/>
            <p:nvPr/>
          </p:nvSpPr>
          <p:spPr>
            <a:xfrm>
              <a:off x="4694699" y="5402281"/>
              <a:ext cx="1173323" cy="1138722"/>
            </a:xfrm>
            <a:prstGeom prst="mathMultiply">
              <a:avLst/>
            </a:prstGeom>
            <a:solidFill>
              <a:srgbClr val="FFCCCC">
                <a:alpha val="50000"/>
              </a:srgbClr>
            </a:solidFill>
            <a:ln>
              <a:solidFill>
                <a:srgbClr val="CF0B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7" name="図 6"/>
          <p:cNvPicPr>
            <a:picLocks noChangeAspect="1"/>
          </p:cNvPicPr>
          <p:nvPr/>
        </p:nvPicPr>
        <p:blipFill>
          <a:blip r:embed="rId3"/>
          <a:stretch>
            <a:fillRect/>
          </a:stretch>
        </p:blipFill>
        <p:spPr>
          <a:xfrm>
            <a:off x="1022245" y="2206185"/>
            <a:ext cx="6918862" cy="3989601"/>
          </a:xfrm>
          <a:prstGeom prst="rect">
            <a:avLst/>
          </a:prstGeom>
        </p:spPr>
      </p:pic>
    </p:spTree>
    <p:extLst>
      <p:ext uri="{BB962C8B-B14F-4D97-AF65-F5344CB8AC3E}">
        <p14:creationId xmlns:p14="http://schemas.microsoft.com/office/powerpoint/2010/main" val="18679567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1371599" y="685800"/>
            <a:ext cx="5783180" cy="1263528"/>
          </a:xfrm>
        </p:spPr>
        <p:txBody>
          <a:bodyPr>
            <a:normAutofit/>
          </a:bodyPr>
          <a:lstStyle/>
          <a:p>
            <a:r>
              <a:rPr lang="en-US" altLang="ja-JP" dirty="0"/>
              <a:t>3</a:t>
            </a:r>
            <a:r>
              <a:rPr kumimoji="1" lang="en-US" altLang="ja-JP" dirty="0"/>
              <a:t>.</a:t>
            </a:r>
            <a:r>
              <a:rPr kumimoji="1" lang="ja-JP" altLang="en-US" dirty="0"/>
              <a:t>　手法 </a:t>
            </a:r>
            <a:r>
              <a:rPr lang="ja-JP" altLang="en-US" dirty="0"/>
              <a:t>（</a:t>
            </a:r>
            <a:r>
              <a:rPr lang="en-US" altLang="ja-JP" dirty="0" smtClean="0"/>
              <a:t>2/4</a:t>
            </a:r>
            <a:r>
              <a:rPr lang="ja-JP" altLang="en-US" dirty="0" smtClean="0"/>
              <a:t>）</a:t>
            </a:r>
            <a:endParaRPr kumimoji="1" lang="ja-JP" altLang="en-US" dirty="0"/>
          </a:p>
        </p:txBody>
      </p:sp>
      <p:sp>
        <p:nvSpPr>
          <p:cNvPr id="11" name="テキスト ボックス 10"/>
          <p:cNvSpPr txBox="1"/>
          <p:nvPr/>
        </p:nvSpPr>
        <p:spPr>
          <a:xfrm>
            <a:off x="1333731" y="1480202"/>
            <a:ext cx="3784369" cy="400110"/>
          </a:xfrm>
          <a:prstGeom prst="rect">
            <a:avLst/>
          </a:prstGeom>
          <a:noFill/>
        </p:spPr>
        <p:txBody>
          <a:bodyPr wrap="square" rtlCol="0">
            <a:spAutoFit/>
          </a:bodyPr>
          <a:lstStyle/>
          <a:p>
            <a:r>
              <a:rPr lang="en-US" altLang="ja-JP" sz="2000" b="1" dirty="0" smtClean="0"/>
              <a:t>3D</a:t>
            </a:r>
            <a:r>
              <a:rPr lang="ja-JP" altLang="en-US" sz="2000" b="1" dirty="0" smtClean="0"/>
              <a:t>モデリング</a:t>
            </a:r>
            <a:endParaRPr kumimoji="1" lang="ja-JP" altLang="en-US" sz="2000" b="1" dirty="0"/>
          </a:p>
        </p:txBody>
      </p:sp>
      <p:sp>
        <p:nvSpPr>
          <p:cNvPr id="2" name="テキスト ボックス 1"/>
          <p:cNvSpPr txBox="1"/>
          <p:nvPr/>
        </p:nvSpPr>
        <p:spPr>
          <a:xfrm>
            <a:off x="1371599" y="2228019"/>
            <a:ext cx="5257802" cy="4062651"/>
          </a:xfrm>
          <a:prstGeom prst="rect">
            <a:avLst/>
          </a:prstGeom>
          <a:noFill/>
        </p:spPr>
        <p:txBody>
          <a:bodyPr wrap="square" rtlCol="0">
            <a:spAutoFit/>
          </a:bodyPr>
          <a:lstStyle/>
          <a:p>
            <a:pPr marL="342900" indent="-342900">
              <a:buFont typeface="+mj-ea"/>
              <a:buAutoNum type="circleNumDbPlain"/>
            </a:pPr>
            <a:r>
              <a:rPr lang="ja-JP" altLang="en-US" sz="3000" dirty="0"/>
              <a:t>空間を</a:t>
            </a:r>
            <a:r>
              <a:rPr lang="ja-JP" altLang="en-US" sz="3000" dirty="0" smtClean="0"/>
              <a:t>作る</a:t>
            </a:r>
            <a:r>
              <a:rPr lang="en-US" altLang="ja-JP" sz="3000" dirty="0"/>
              <a:t> </a:t>
            </a:r>
            <a:r>
              <a:rPr lang="ja-JP" altLang="en-US" sz="3000" dirty="0" smtClean="0"/>
              <a:t>～</a:t>
            </a:r>
            <a:r>
              <a:rPr lang="en-US" altLang="ja-JP" sz="3000" dirty="0" smtClean="0"/>
              <a:t> scene </a:t>
            </a:r>
            <a:r>
              <a:rPr lang="ja-JP" altLang="en-US" sz="3000" dirty="0" smtClean="0"/>
              <a:t>～</a:t>
            </a:r>
            <a:endParaRPr lang="en-US" altLang="ja-JP" sz="3000" dirty="0" smtClean="0"/>
          </a:p>
          <a:p>
            <a:pPr marL="342900" indent="-342900">
              <a:buFont typeface="+mj-ea"/>
              <a:buAutoNum type="circleNumDbPlain"/>
            </a:pPr>
            <a:r>
              <a:rPr lang="ja-JP" altLang="en-US" sz="3000" dirty="0" smtClean="0"/>
              <a:t>撮影機器設置 </a:t>
            </a:r>
            <a:r>
              <a:rPr lang="ja-JP" altLang="en-US" sz="3000" dirty="0"/>
              <a:t>～</a:t>
            </a:r>
            <a:r>
              <a:rPr lang="en-US" altLang="ja-JP" sz="3000" dirty="0"/>
              <a:t> </a:t>
            </a:r>
            <a:r>
              <a:rPr lang="en-US" altLang="ja-JP" sz="3000" dirty="0" smtClean="0"/>
              <a:t>camera </a:t>
            </a:r>
            <a:r>
              <a:rPr lang="ja-JP" altLang="en-US" sz="3000" dirty="0" smtClean="0"/>
              <a:t>～</a:t>
            </a:r>
            <a:endParaRPr lang="en-US" altLang="ja-JP" sz="3000" dirty="0" smtClean="0"/>
          </a:p>
          <a:p>
            <a:pPr marL="342900" indent="-342900">
              <a:buFont typeface="+mj-ea"/>
              <a:buAutoNum type="circleNumDbPlain"/>
            </a:pPr>
            <a:r>
              <a:rPr lang="ja-JP" altLang="en-US" sz="3000" dirty="0" smtClean="0"/>
              <a:t>レンダラーを設計</a:t>
            </a:r>
            <a:endParaRPr lang="en-US" altLang="ja-JP" sz="3000" dirty="0" smtClean="0"/>
          </a:p>
          <a:p>
            <a:pPr marL="342900" indent="-342900">
              <a:buFont typeface="+mj-ea"/>
              <a:buAutoNum type="circleNumDbPlain"/>
            </a:pPr>
            <a:r>
              <a:rPr lang="ja-JP" altLang="en-US" sz="3000" dirty="0"/>
              <a:t>物体の設計</a:t>
            </a:r>
            <a:endParaRPr lang="en-US" altLang="ja-JP" sz="3000" dirty="0"/>
          </a:p>
          <a:p>
            <a:pPr marL="342900" indent="-342900">
              <a:buFont typeface="+mj-ea"/>
              <a:buAutoNum type="circleNumDbPlain"/>
            </a:pPr>
            <a:r>
              <a:rPr lang="ja-JP" altLang="en-US" sz="3000" dirty="0" smtClean="0"/>
              <a:t>光源の設計</a:t>
            </a:r>
            <a:endParaRPr lang="en-US" altLang="ja-JP" sz="3000" dirty="0" smtClean="0"/>
          </a:p>
          <a:p>
            <a:pPr marL="342900" indent="-342900">
              <a:buFont typeface="+mj-ea"/>
              <a:buAutoNum type="circleNumDbPlain"/>
            </a:pPr>
            <a:r>
              <a:rPr lang="ja-JP" altLang="en-US" sz="3000" dirty="0" smtClean="0"/>
              <a:t>物体、光源をシーンに追加</a:t>
            </a:r>
            <a:endParaRPr lang="en-US" altLang="ja-JP" sz="3000" dirty="0" smtClean="0"/>
          </a:p>
          <a:p>
            <a:pPr marL="342900" indent="-342900">
              <a:buFont typeface="+mj-ea"/>
              <a:buAutoNum type="circleNumDbPlain"/>
            </a:pPr>
            <a:r>
              <a:rPr lang="ja-JP" altLang="en-US" sz="3000" dirty="0" smtClean="0"/>
              <a:t>カメラとシーンをレンダラー</a:t>
            </a:r>
            <a:r>
              <a:rPr lang="ja-JP" altLang="en-US" sz="3000" dirty="0"/>
              <a:t>に</a:t>
            </a:r>
            <a:r>
              <a:rPr lang="ja-JP" altLang="en-US" sz="3000" dirty="0" smtClean="0"/>
              <a:t>追加</a:t>
            </a:r>
            <a:endParaRPr lang="en-US" altLang="ja-JP" sz="3000" dirty="0"/>
          </a:p>
          <a:p>
            <a:pPr marL="342900" indent="-342900">
              <a:buFont typeface="+mj-ea"/>
              <a:buAutoNum type="circleNumDbPlain"/>
            </a:pPr>
            <a:endParaRPr kumimoji="1" lang="ja-JP" altLang="en-US" dirty="0"/>
          </a:p>
        </p:txBody>
      </p:sp>
      <p:sp>
        <p:nvSpPr>
          <p:cNvPr id="54" name="テキスト ボックス 53"/>
          <p:cNvSpPr txBox="1"/>
          <p:nvPr/>
        </p:nvSpPr>
        <p:spPr>
          <a:xfrm>
            <a:off x="5251408" y="1445571"/>
            <a:ext cx="3784369" cy="400110"/>
          </a:xfrm>
          <a:prstGeom prst="rect">
            <a:avLst/>
          </a:prstGeom>
          <a:noFill/>
        </p:spPr>
        <p:txBody>
          <a:bodyPr wrap="square" rtlCol="0">
            <a:spAutoFit/>
          </a:bodyPr>
          <a:lstStyle/>
          <a:p>
            <a:r>
              <a:rPr lang="ja-JP" altLang="en-US" sz="2000" b="1" dirty="0" smtClean="0"/>
              <a:t>データの</a:t>
            </a:r>
            <a:r>
              <a:rPr lang="ja-JP" altLang="en-US" sz="2000" b="1" dirty="0"/>
              <a:t>保存</a:t>
            </a:r>
            <a:endParaRPr kumimoji="1" lang="ja-JP" altLang="en-US" sz="2000" b="1" dirty="0"/>
          </a:p>
        </p:txBody>
      </p:sp>
      <p:grpSp>
        <p:nvGrpSpPr>
          <p:cNvPr id="55" name="グループ化 54"/>
          <p:cNvGrpSpPr/>
          <p:nvPr/>
        </p:nvGrpSpPr>
        <p:grpSpPr>
          <a:xfrm>
            <a:off x="6406599" y="856100"/>
            <a:ext cx="5524144" cy="5631787"/>
            <a:chOff x="3045370" y="425670"/>
            <a:chExt cx="3375731" cy="3927078"/>
          </a:xfrm>
        </p:grpSpPr>
        <p:sp>
          <p:nvSpPr>
            <p:cNvPr id="56" name="フローチャート: 端子 55"/>
            <p:cNvSpPr/>
            <p:nvPr/>
          </p:nvSpPr>
          <p:spPr>
            <a:xfrm>
              <a:off x="4009695" y="425670"/>
              <a:ext cx="1587062" cy="68317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sp>
          <p:nvSpPr>
            <p:cNvPr id="57" name="テキスト ボックス 56"/>
            <p:cNvSpPr txBox="1"/>
            <p:nvPr/>
          </p:nvSpPr>
          <p:spPr>
            <a:xfrm>
              <a:off x="3996557" y="651840"/>
              <a:ext cx="1613339" cy="203884"/>
            </a:xfrm>
            <a:prstGeom prst="rect">
              <a:avLst/>
            </a:prstGeom>
            <a:noFill/>
          </p:spPr>
          <p:txBody>
            <a:bodyPr wrap="square" rtlCol="0">
              <a:spAutoFit/>
            </a:bodyPr>
            <a:lstStyle/>
            <a:p>
              <a:pPr algn="ctr"/>
              <a:r>
                <a:rPr kumimoji="1" lang="ja-JP" altLang="en-US" sz="1300" dirty="0" smtClean="0"/>
                <a:t>ブラウザ上の</a:t>
              </a:r>
              <a:r>
                <a:rPr lang="ja-JP" altLang="en-US" sz="1300" dirty="0"/>
                <a:t>ボタン</a:t>
              </a:r>
              <a:r>
                <a:rPr lang="ja-JP" altLang="en-US" sz="1300" dirty="0" smtClean="0"/>
                <a:t>をクリック</a:t>
              </a:r>
              <a:endParaRPr kumimoji="1" lang="ja-JP" altLang="en-US" sz="1300" dirty="0"/>
            </a:p>
          </p:txBody>
        </p:sp>
        <p:sp>
          <p:nvSpPr>
            <p:cNvPr id="58" name="テキスト ボックス 57"/>
            <p:cNvSpPr txBox="1"/>
            <p:nvPr/>
          </p:nvSpPr>
          <p:spPr>
            <a:xfrm>
              <a:off x="3045370" y="1633228"/>
              <a:ext cx="1613339" cy="343383"/>
            </a:xfrm>
            <a:prstGeom prst="rect">
              <a:avLst/>
            </a:prstGeom>
            <a:noFill/>
          </p:spPr>
          <p:txBody>
            <a:bodyPr wrap="square" rtlCol="0">
              <a:spAutoFit/>
            </a:bodyPr>
            <a:lstStyle/>
            <a:p>
              <a:pPr algn="ctr"/>
              <a:r>
                <a:rPr lang="en-US" altLang="ja-JP" sz="1300" dirty="0"/>
                <a:t>n</a:t>
              </a:r>
              <a:r>
                <a:rPr kumimoji="1" lang="en-US" altLang="ja-JP" sz="1300" dirty="0" smtClean="0"/>
                <a:t>ode.js</a:t>
              </a:r>
              <a:r>
                <a:rPr kumimoji="1" lang="ja-JP" altLang="en-US" sz="1300" dirty="0" smtClean="0"/>
                <a:t>に</a:t>
              </a:r>
              <a:r>
                <a:rPr kumimoji="1" lang="en-US" altLang="ja-JP" sz="1300" dirty="0" smtClean="0"/>
                <a:t>POST</a:t>
              </a:r>
              <a:r>
                <a:rPr kumimoji="1" lang="ja-JP" altLang="en-US" sz="1300" dirty="0" smtClean="0"/>
                <a:t>で</a:t>
              </a:r>
              <a:r>
                <a:rPr kumimoji="1" lang="en-US" altLang="ja-JP" sz="1300" dirty="0" smtClean="0"/>
                <a:t>JSON</a:t>
              </a:r>
              <a:r>
                <a:rPr kumimoji="1" lang="ja-JP" altLang="en-US" sz="1300" dirty="0" smtClean="0"/>
                <a:t>ファイルを送信</a:t>
              </a:r>
              <a:endParaRPr kumimoji="1" lang="ja-JP" altLang="en-US" sz="1300" dirty="0"/>
            </a:p>
          </p:txBody>
        </p:sp>
        <p:sp>
          <p:nvSpPr>
            <p:cNvPr id="59" name="フローチャート: 端子 58"/>
            <p:cNvSpPr/>
            <p:nvPr/>
          </p:nvSpPr>
          <p:spPr>
            <a:xfrm>
              <a:off x="4803226" y="1565844"/>
              <a:ext cx="1587062" cy="36933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sp>
          <p:nvSpPr>
            <p:cNvPr id="60" name="テキスト ボックス 59"/>
            <p:cNvSpPr txBox="1"/>
            <p:nvPr/>
          </p:nvSpPr>
          <p:spPr>
            <a:xfrm>
              <a:off x="4798634" y="1596165"/>
              <a:ext cx="1613339" cy="343383"/>
            </a:xfrm>
            <a:prstGeom prst="rect">
              <a:avLst/>
            </a:prstGeom>
            <a:noFill/>
          </p:spPr>
          <p:txBody>
            <a:bodyPr wrap="square" rtlCol="0">
              <a:spAutoFit/>
            </a:bodyPr>
            <a:lstStyle/>
            <a:p>
              <a:pPr algn="ctr"/>
              <a:r>
                <a:rPr lang="en-US" altLang="ja-JP" sz="1300" dirty="0" smtClean="0"/>
                <a:t>n</a:t>
              </a:r>
              <a:r>
                <a:rPr kumimoji="1" lang="en-US" altLang="ja-JP" sz="1300" dirty="0" smtClean="0"/>
                <a:t>ode.js</a:t>
              </a:r>
              <a:r>
                <a:rPr kumimoji="1" lang="ja-JP" altLang="en-US" sz="1300" dirty="0" smtClean="0"/>
                <a:t>に</a:t>
              </a:r>
              <a:r>
                <a:rPr kumimoji="1" lang="en-US" altLang="ja-JP" sz="1300" dirty="0" smtClean="0"/>
                <a:t>GET</a:t>
              </a:r>
              <a:r>
                <a:rPr kumimoji="1" lang="ja-JP" altLang="en-US" sz="1300" dirty="0" smtClean="0"/>
                <a:t>リクエスト</a:t>
              </a:r>
              <a:endParaRPr kumimoji="1" lang="en-US" altLang="ja-JP" sz="1300" dirty="0" smtClean="0"/>
            </a:p>
            <a:p>
              <a:pPr algn="ctr"/>
              <a:r>
                <a:rPr kumimoji="1" lang="ja-JP" altLang="en-US" sz="1300" dirty="0" smtClean="0"/>
                <a:t>でアクセス</a:t>
              </a:r>
              <a:endParaRPr kumimoji="1" lang="ja-JP" altLang="en-US" sz="1300" dirty="0"/>
            </a:p>
          </p:txBody>
        </p:sp>
        <p:cxnSp>
          <p:nvCxnSpPr>
            <p:cNvPr id="61" name="直線矢印コネクタ 60"/>
            <p:cNvCxnSpPr>
              <a:stCxn id="65" idx="2"/>
              <a:endCxn id="84" idx="0"/>
            </p:cNvCxnSpPr>
            <p:nvPr/>
          </p:nvCxnSpPr>
          <p:spPr>
            <a:xfrm flipH="1">
              <a:off x="3858494" y="2002560"/>
              <a:ext cx="6684" cy="142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矢印コネクタ 61"/>
            <p:cNvCxnSpPr>
              <a:stCxn id="56" idx="2"/>
              <a:endCxn id="59" idx="0"/>
            </p:cNvCxnSpPr>
            <p:nvPr/>
          </p:nvCxnSpPr>
          <p:spPr>
            <a:xfrm>
              <a:off x="4803226" y="1108842"/>
              <a:ext cx="793531" cy="4570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p:cNvSpPr txBox="1"/>
            <p:nvPr/>
          </p:nvSpPr>
          <p:spPr>
            <a:xfrm>
              <a:off x="3369877" y="1222646"/>
              <a:ext cx="990602" cy="203884"/>
            </a:xfrm>
            <a:prstGeom prst="rect">
              <a:avLst/>
            </a:prstGeom>
            <a:noFill/>
          </p:spPr>
          <p:txBody>
            <a:bodyPr wrap="square" rtlCol="0">
              <a:spAutoFit/>
            </a:bodyPr>
            <a:lstStyle/>
            <a:p>
              <a:r>
                <a:rPr kumimoji="1" lang="en-US" altLang="ja-JP" sz="1300" dirty="0" smtClean="0"/>
                <a:t>‘save’</a:t>
              </a:r>
              <a:r>
                <a:rPr kumimoji="1" lang="ja-JP" altLang="en-US" sz="1300" dirty="0" smtClean="0"/>
                <a:t>をクリック</a:t>
              </a:r>
              <a:endParaRPr kumimoji="1" lang="ja-JP" altLang="en-US" sz="1300" dirty="0"/>
            </a:p>
          </p:txBody>
        </p:sp>
        <p:sp>
          <p:nvSpPr>
            <p:cNvPr id="64" name="テキスト ボックス 63"/>
            <p:cNvSpPr txBox="1"/>
            <p:nvPr/>
          </p:nvSpPr>
          <p:spPr>
            <a:xfrm>
              <a:off x="5245973" y="1193060"/>
              <a:ext cx="990602" cy="203884"/>
            </a:xfrm>
            <a:prstGeom prst="rect">
              <a:avLst/>
            </a:prstGeom>
            <a:noFill/>
          </p:spPr>
          <p:txBody>
            <a:bodyPr wrap="square" rtlCol="0">
              <a:spAutoFit/>
            </a:bodyPr>
            <a:lstStyle/>
            <a:p>
              <a:r>
                <a:rPr kumimoji="1" lang="en-US" altLang="ja-JP" sz="1300" dirty="0" smtClean="0"/>
                <a:t>‘open’</a:t>
              </a:r>
              <a:r>
                <a:rPr kumimoji="1" lang="ja-JP" altLang="en-US" sz="1300" dirty="0" smtClean="0"/>
                <a:t>をクリック</a:t>
              </a:r>
              <a:endParaRPr kumimoji="1" lang="ja-JP" altLang="en-US" sz="1300" dirty="0"/>
            </a:p>
          </p:txBody>
        </p:sp>
        <p:sp>
          <p:nvSpPr>
            <p:cNvPr id="65" name="フローチャート: 端子 64"/>
            <p:cNvSpPr/>
            <p:nvPr/>
          </p:nvSpPr>
          <p:spPr>
            <a:xfrm>
              <a:off x="3071647" y="1566563"/>
              <a:ext cx="1587062" cy="435997"/>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grpSp>
          <p:nvGrpSpPr>
            <p:cNvPr id="66" name="グループ化 65"/>
            <p:cNvGrpSpPr/>
            <p:nvPr/>
          </p:nvGrpSpPr>
          <p:grpSpPr>
            <a:xfrm>
              <a:off x="3051824" y="2144569"/>
              <a:ext cx="1613339" cy="371665"/>
              <a:chOff x="2837789" y="2767148"/>
              <a:chExt cx="1613339" cy="709391"/>
            </a:xfrm>
          </p:grpSpPr>
          <p:sp>
            <p:nvSpPr>
              <p:cNvPr id="84" name="フローチャート: 端子 83"/>
              <p:cNvSpPr/>
              <p:nvPr/>
            </p:nvSpPr>
            <p:spPr>
              <a:xfrm>
                <a:off x="2850928" y="2767148"/>
                <a:ext cx="1587062" cy="68317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sp>
            <p:nvSpPr>
              <p:cNvPr id="85" name="テキスト ボックス 84"/>
              <p:cNvSpPr txBox="1"/>
              <p:nvPr/>
            </p:nvSpPr>
            <p:spPr>
              <a:xfrm>
                <a:off x="2837789" y="2821129"/>
                <a:ext cx="1613339" cy="655410"/>
              </a:xfrm>
              <a:prstGeom prst="rect">
                <a:avLst/>
              </a:prstGeom>
              <a:noFill/>
            </p:spPr>
            <p:txBody>
              <a:bodyPr wrap="square" rtlCol="0">
                <a:spAutoFit/>
              </a:bodyPr>
              <a:lstStyle/>
              <a:p>
                <a:pPr algn="ctr"/>
                <a:r>
                  <a:rPr lang="ja-JP" altLang="en-US" sz="1300" dirty="0" smtClean="0"/>
                  <a:t>送られてきた</a:t>
                </a:r>
                <a:r>
                  <a:rPr lang="en-US" altLang="ja-JP" sz="1300" dirty="0" smtClean="0"/>
                  <a:t>JSON</a:t>
                </a:r>
                <a:r>
                  <a:rPr lang="ja-JP" altLang="en-US" sz="1300" dirty="0" smtClean="0"/>
                  <a:t>ファイルをファイルに保存</a:t>
                </a:r>
                <a:endParaRPr kumimoji="1" lang="ja-JP" altLang="en-US" sz="1300" dirty="0"/>
              </a:p>
            </p:txBody>
          </p:sp>
        </p:grpSp>
        <p:cxnSp>
          <p:nvCxnSpPr>
            <p:cNvPr id="67" name="直線矢印コネクタ 66"/>
            <p:cNvCxnSpPr>
              <a:stCxn id="56" idx="2"/>
              <a:endCxn id="65" idx="0"/>
            </p:cNvCxnSpPr>
            <p:nvPr/>
          </p:nvCxnSpPr>
          <p:spPr>
            <a:xfrm flipH="1">
              <a:off x="3865178" y="1108842"/>
              <a:ext cx="938048" cy="4577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矢印コネクタ 67"/>
            <p:cNvCxnSpPr>
              <a:stCxn id="59" idx="2"/>
              <a:endCxn id="82" idx="0"/>
            </p:cNvCxnSpPr>
            <p:nvPr/>
          </p:nvCxnSpPr>
          <p:spPr>
            <a:xfrm>
              <a:off x="5596757" y="1935176"/>
              <a:ext cx="5080" cy="2206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9" name="グループ化 68"/>
            <p:cNvGrpSpPr/>
            <p:nvPr/>
          </p:nvGrpSpPr>
          <p:grpSpPr>
            <a:xfrm>
              <a:off x="4769009" y="2155803"/>
              <a:ext cx="1652092" cy="441156"/>
              <a:chOff x="2837790" y="2767148"/>
              <a:chExt cx="1600201" cy="683172"/>
            </a:xfrm>
          </p:grpSpPr>
          <p:sp>
            <p:nvSpPr>
              <p:cNvPr id="82" name="フローチャート: 端子 81"/>
              <p:cNvSpPr/>
              <p:nvPr/>
            </p:nvSpPr>
            <p:spPr>
              <a:xfrm>
                <a:off x="2850928" y="2767148"/>
                <a:ext cx="1587062" cy="68317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sp>
            <p:nvSpPr>
              <p:cNvPr id="83" name="テキスト ボックス 82"/>
              <p:cNvSpPr txBox="1"/>
              <p:nvPr/>
            </p:nvSpPr>
            <p:spPr>
              <a:xfrm>
                <a:off x="2837790" y="2907316"/>
                <a:ext cx="1600201" cy="315733"/>
              </a:xfrm>
              <a:prstGeom prst="rect">
                <a:avLst/>
              </a:prstGeom>
              <a:noFill/>
            </p:spPr>
            <p:txBody>
              <a:bodyPr wrap="square" rtlCol="0">
                <a:spAutoFit/>
              </a:bodyPr>
              <a:lstStyle/>
              <a:p>
                <a:pPr algn="ctr"/>
                <a:r>
                  <a:rPr lang="en-US" altLang="ja-JP" sz="1300" dirty="0"/>
                  <a:t>n</a:t>
                </a:r>
                <a:r>
                  <a:rPr lang="en-US" altLang="ja-JP" sz="1300" dirty="0" smtClean="0"/>
                  <a:t>ode.js</a:t>
                </a:r>
                <a:r>
                  <a:rPr lang="ja-JP" altLang="en-US" sz="1300" dirty="0" smtClean="0"/>
                  <a:t>でファイルを読み込み</a:t>
                </a:r>
                <a:endParaRPr kumimoji="1" lang="ja-JP" altLang="en-US" sz="1300" dirty="0"/>
              </a:p>
            </p:txBody>
          </p:sp>
        </p:grpSp>
        <p:cxnSp>
          <p:nvCxnSpPr>
            <p:cNvPr id="70" name="直線矢印コネクタ 69"/>
            <p:cNvCxnSpPr>
              <a:stCxn id="84" idx="2"/>
              <a:endCxn id="80" idx="0"/>
            </p:cNvCxnSpPr>
            <p:nvPr/>
          </p:nvCxnSpPr>
          <p:spPr>
            <a:xfrm>
              <a:off x="3858494" y="2502501"/>
              <a:ext cx="4935" cy="2221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1" name="グループ化 70"/>
            <p:cNvGrpSpPr/>
            <p:nvPr/>
          </p:nvGrpSpPr>
          <p:grpSpPr>
            <a:xfrm>
              <a:off x="3257748" y="2724631"/>
              <a:ext cx="1231417" cy="550581"/>
              <a:chOff x="2850927" y="2767148"/>
              <a:chExt cx="1613339" cy="683172"/>
            </a:xfrm>
          </p:grpSpPr>
          <p:sp>
            <p:nvSpPr>
              <p:cNvPr id="80" name="フローチャート: 端子 79"/>
              <p:cNvSpPr/>
              <p:nvPr/>
            </p:nvSpPr>
            <p:spPr>
              <a:xfrm>
                <a:off x="2850928" y="2767148"/>
                <a:ext cx="1587062" cy="68317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sp>
            <p:nvSpPr>
              <p:cNvPr id="81" name="テキスト ボックス 80"/>
              <p:cNvSpPr txBox="1"/>
              <p:nvPr/>
            </p:nvSpPr>
            <p:spPr>
              <a:xfrm>
                <a:off x="2850927" y="2993318"/>
                <a:ext cx="1613339" cy="252983"/>
              </a:xfrm>
              <a:prstGeom prst="rect">
                <a:avLst/>
              </a:prstGeom>
              <a:noFill/>
            </p:spPr>
            <p:txBody>
              <a:bodyPr wrap="square" rtlCol="0">
                <a:spAutoFit/>
              </a:bodyPr>
              <a:lstStyle/>
              <a:p>
                <a:pPr algn="ctr"/>
                <a:r>
                  <a:rPr kumimoji="1" lang="en-US" altLang="ja-JP" sz="1300" dirty="0" smtClean="0"/>
                  <a:t>‘</a:t>
                </a:r>
                <a:r>
                  <a:rPr kumimoji="1" lang="en-US" altLang="ja-JP" sz="1300" dirty="0" err="1" smtClean="0"/>
                  <a:t>ture</a:t>
                </a:r>
                <a:r>
                  <a:rPr kumimoji="1" lang="en-US" altLang="ja-JP" sz="1300" dirty="0" smtClean="0"/>
                  <a:t>’</a:t>
                </a:r>
                <a:r>
                  <a:rPr kumimoji="1" lang="ja-JP" altLang="en-US" sz="1300" dirty="0" smtClean="0"/>
                  <a:t>のみ送信</a:t>
                </a:r>
                <a:endParaRPr kumimoji="1" lang="ja-JP" altLang="en-US" sz="1300" dirty="0"/>
              </a:p>
            </p:txBody>
          </p:sp>
        </p:grpSp>
        <p:cxnSp>
          <p:nvCxnSpPr>
            <p:cNvPr id="72" name="直線矢印コネクタ 71"/>
            <p:cNvCxnSpPr>
              <a:stCxn id="82" idx="2"/>
              <a:endCxn id="78" idx="0"/>
            </p:cNvCxnSpPr>
            <p:nvPr/>
          </p:nvCxnSpPr>
          <p:spPr>
            <a:xfrm>
              <a:off x="5601837" y="2596964"/>
              <a:ext cx="3467" cy="2524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3" name="グループ化 72"/>
            <p:cNvGrpSpPr/>
            <p:nvPr/>
          </p:nvGrpSpPr>
          <p:grpSpPr>
            <a:xfrm>
              <a:off x="4798634" y="2849392"/>
              <a:ext cx="1613339" cy="683172"/>
              <a:chOff x="2837789" y="2767148"/>
              <a:chExt cx="1613339" cy="683172"/>
            </a:xfrm>
          </p:grpSpPr>
          <p:sp>
            <p:nvSpPr>
              <p:cNvPr id="78" name="フローチャート: 端子 77"/>
              <p:cNvSpPr/>
              <p:nvPr/>
            </p:nvSpPr>
            <p:spPr>
              <a:xfrm>
                <a:off x="2850928" y="2767148"/>
                <a:ext cx="1587062" cy="68317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sp>
            <p:nvSpPr>
              <p:cNvPr id="79" name="テキスト ボックス 78"/>
              <p:cNvSpPr txBox="1"/>
              <p:nvPr/>
            </p:nvSpPr>
            <p:spPr>
              <a:xfrm>
                <a:off x="2837789" y="2993318"/>
                <a:ext cx="1613339" cy="203884"/>
              </a:xfrm>
              <a:prstGeom prst="rect">
                <a:avLst/>
              </a:prstGeom>
              <a:noFill/>
            </p:spPr>
            <p:txBody>
              <a:bodyPr wrap="square" rtlCol="0">
                <a:spAutoFit/>
              </a:bodyPr>
              <a:lstStyle/>
              <a:p>
                <a:pPr algn="ctr"/>
                <a:r>
                  <a:rPr kumimoji="1" lang="en-US" altLang="ja-JP" sz="1300" dirty="0" smtClean="0"/>
                  <a:t>JSON</a:t>
                </a:r>
                <a:r>
                  <a:rPr kumimoji="1" lang="ja-JP" altLang="en-US" sz="1300" dirty="0" smtClean="0"/>
                  <a:t>形式に処理して送信</a:t>
                </a:r>
                <a:endParaRPr kumimoji="1" lang="ja-JP" altLang="en-US" sz="1300" dirty="0"/>
              </a:p>
            </p:txBody>
          </p:sp>
        </p:grpSp>
        <p:cxnSp>
          <p:nvCxnSpPr>
            <p:cNvPr id="74" name="直線矢印コネクタ 73"/>
            <p:cNvCxnSpPr>
              <a:stCxn id="78" idx="2"/>
              <a:endCxn id="76" idx="0"/>
            </p:cNvCxnSpPr>
            <p:nvPr/>
          </p:nvCxnSpPr>
          <p:spPr>
            <a:xfrm>
              <a:off x="5605304" y="3532564"/>
              <a:ext cx="4027" cy="137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5" name="グループ化 74"/>
            <p:cNvGrpSpPr/>
            <p:nvPr/>
          </p:nvGrpSpPr>
          <p:grpSpPr>
            <a:xfrm>
              <a:off x="4802661" y="3669576"/>
              <a:ext cx="1613339" cy="683172"/>
              <a:chOff x="2837789" y="2767148"/>
              <a:chExt cx="1613339" cy="683172"/>
            </a:xfrm>
          </p:grpSpPr>
          <p:sp>
            <p:nvSpPr>
              <p:cNvPr id="76" name="フローチャート: 端子 75"/>
              <p:cNvSpPr/>
              <p:nvPr/>
            </p:nvSpPr>
            <p:spPr>
              <a:xfrm>
                <a:off x="2850928" y="2767148"/>
                <a:ext cx="1587062" cy="68317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00"/>
              </a:p>
            </p:txBody>
          </p:sp>
          <p:sp>
            <p:nvSpPr>
              <p:cNvPr id="77" name="テキスト ボックス 76"/>
              <p:cNvSpPr txBox="1"/>
              <p:nvPr/>
            </p:nvSpPr>
            <p:spPr>
              <a:xfrm>
                <a:off x="2837789" y="2854818"/>
                <a:ext cx="1613339" cy="482882"/>
              </a:xfrm>
              <a:prstGeom prst="rect">
                <a:avLst/>
              </a:prstGeom>
              <a:noFill/>
            </p:spPr>
            <p:txBody>
              <a:bodyPr wrap="square" rtlCol="0">
                <a:spAutoFit/>
              </a:bodyPr>
              <a:lstStyle/>
              <a:p>
                <a:pPr algn="ctr"/>
                <a:r>
                  <a:rPr lang="ja-JP" altLang="en-US" sz="1300" dirty="0" smtClean="0"/>
                  <a:t>送られてきた</a:t>
                </a:r>
                <a:r>
                  <a:rPr lang="en-US" altLang="ja-JP" sz="1300" dirty="0" smtClean="0"/>
                  <a:t>JSON</a:t>
                </a:r>
                <a:r>
                  <a:rPr lang="ja-JP" altLang="en-US" sz="1300" dirty="0" smtClean="0"/>
                  <a:t>ファイルを解析し</a:t>
                </a:r>
                <a:r>
                  <a:rPr lang="en-US" altLang="ja-JP" sz="1300" dirty="0" smtClean="0"/>
                  <a:t>3D</a:t>
                </a:r>
                <a:r>
                  <a:rPr lang="ja-JP" altLang="en-US" sz="1300" dirty="0" smtClean="0"/>
                  <a:t>モデ</a:t>
                </a:r>
                <a:r>
                  <a:rPr lang="ja-JP" altLang="en-US" sz="1300" dirty="0"/>
                  <a:t>ル</a:t>
                </a:r>
                <a:r>
                  <a:rPr lang="ja-JP" altLang="en-US" sz="1300" dirty="0" smtClean="0"/>
                  <a:t>のプロパティに当てはめる</a:t>
                </a:r>
                <a:endParaRPr kumimoji="1" lang="ja-JP" altLang="en-US" sz="1300" dirty="0"/>
              </a:p>
            </p:txBody>
          </p:sp>
        </p:grpSp>
      </p:grpSp>
    </p:spTree>
    <p:extLst>
      <p:ext uri="{BB962C8B-B14F-4D97-AF65-F5344CB8AC3E}">
        <p14:creationId xmlns:p14="http://schemas.microsoft.com/office/powerpoint/2010/main" val="22764909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1371599" y="685800"/>
            <a:ext cx="5783180" cy="1263528"/>
          </a:xfrm>
        </p:spPr>
        <p:txBody>
          <a:bodyPr>
            <a:normAutofit/>
          </a:bodyPr>
          <a:lstStyle/>
          <a:p>
            <a:r>
              <a:rPr lang="en-US" altLang="ja-JP" dirty="0" smtClean="0"/>
              <a:t>3</a:t>
            </a:r>
            <a:r>
              <a:rPr kumimoji="1" lang="en-US" altLang="ja-JP" dirty="0" smtClean="0"/>
              <a:t>.</a:t>
            </a:r>
            <a:r>
              <a:rPr kumimoji="1" lang="ja-JP" altLang="en-US" dirty="0" smtClean="0"/>
              <a:t>　手法 </a:t>
            </a:r>
            <a:r>
              <a:rPr lang="ja-JP" altLang="en-US" dirty="0" smtClean="0"/>
              <a:t>（</a:t>
            </a:r>
            <a:r>
              <a:rPr lang="en-US" altLang="ja-JP" dirty="0" smtClean="0"/>
              <a:t>3/4</a:t>
            </a:r>
            <a:r>
              <a:rPr lang="ja-JP" altLang="en-US" dirty="0" smtClean="0"/>
              <a:t>）</a:t>
            </a:r>
            <a:endParaRPr kumimoji="1" lang="ja-JP" altLang="en-US" dirty="0"/>
          </a:p>
        </p:txBody>
      </p:sp>
      <p:sp>
        <p:nvSpPr>
          <p:cNvPr id="40" name="テキスト ボックス 39"/>
          <p:cNvSpPr txBox="1"/>
          <p:nvPr/>
        </p:nvSpPr>
        <p:spPr>
          <a:xfrm>
            <a:off x="1279303" y="1483649"/>
            <a:ext cx="4435697" cy="707886"/>
          </a:xfrm>
          <a:prstGeom prst="rect">
            <a:avLst/>
          </a:prstGeom>
          <a:noFill/>
        </p:spPr>
        <p:txBody>
          <a:bodyPr wrap="square" rtlCol="0">
            <a:spAutoFit/>
          </a:bodyPr>
          <a:lstStyle/>
          <a:p>
            <a:r>
              <a:rPr lang="en-US" altLang="ja-JP" sz="2000" b="1" dirty="0" smtClean="0"/>
              <a:t>Three.js</a:t>
            </a:r>
            <a:r>
              <a:rPr lang="ja-JP" altLang="en-US" sz="2000" b="1" dirty="0" smtClean="0"/>
              <a:t>による光源オブジェクト</a:t>
            </a:r>
            <a:endParaRPr lang="en-US" altLang="ja-JP" sz="2000" b="1" dirty="0" smtClean="0"/>
          </a:p>
          <a:p>
            <a:endParaRPr lang="en-US" altLang="ja-JP" sz="2000" dirty="0"/>
          </a:p>
        </p:txBody>
      </p:sp>
      <p:sp>
        <p:nvSpPr>
          <p:cNvPr id="41" name="テキスト ボックス 40"/>
          <p:cNvSpPr txBox="1"/>
          <p:nvPr/>
        </p:nvSpPr>
        <p:spPr>
          <a:xfrm>
            <a:off x="6754817" y="1483649"/>
            <a:ext cx="4087354" cy="400110"/>
          </a:xfrm>
          <a:prstGeom prst="rect">
            <a:avLst/>
          </a:prstGeom>
          <a:noFill/>
        </p:spPr>
        <p:txBody>
          <a:bodyPr wrap="square" rtlCol="0">
            <a:spAutoFit/>
          </a:bodyPr>
          <a:lstStyle/>
          <a:p>
            <a:r>
              <a:rPr lang="ja-JP" altLang="en-US" sz="2000" b="1" dirty="0" smtClean="0"/>
              <a:t>実際の照明の例</a:t>
            </a:r>
            <a:endParaRPr lang="en-US" altLang="ja-JP" sz="2000" b="1" dirty="0"/>
          </a:p>
        </p:txBody>
      </p:sp>
      <p:pic>
        <p:nvPicPr>
          <p:cNvPr id="42" name="図 41"/>
          <p:cNvPicPr/>
          <p:nvPr/>
        </p:nvPicPr>
        <p:blipFill>
          <a:blip r:embed="rId3">
            <a:extLst>
              <a:ext uri="{28A0092B-C50C-407E-A947-70E740481C1C}">
                <a14:useLocalDpi xmlns:a14="http://schemas.microsoft.com/office/drawing/2010/main" val="0"/>
              </a:ext>
            </a:extLst>
          </a:blip>
          <a:stretch>
            <a:fillRect/>
          </a:stretch>
        </p:blipFill>
        <p:spPr>
          <a:xfrm>
            <a:off x="6846391" y="2535794"/>
            <a:ext cx="4590908" cy="3504415"/>
          </a:xfrm>
          <a:prstGeom prst="rect">
            <a:avLst/>
          </a:prstGeom>
        </p:spPr>
      </p:pic>
      <p:pic>
        <p:nvPicPr>
          <p:cNvPr id="43" name="図 42"/>
          <p:cNvPicPr/>
          <p:nvPr/>
        </p:nvPicPr>
        <p:blipFill rotWithShape="1">
          <a:blip r:embed="rId4" cstate="print">
            <a:extLst>
              <a:ext uri="{28A0092B-C50C-407E-A947-70E740481C1C}">
                <a14:useLocalDpi xmlns:a14="http://schemas.microsoft.com/office/drawing/2010/main" val="0"/>
              </a:ext>
            </a:extLst>
          </a:blip>
          <a:srcRect l="11452" t="1" r="8526" b="722"/>
          <a:stretch/>
        </p:blipFill>
        <p:spPr bwMode="auto">
          <a:xfrm>
            <a:off x="1648695" y="2191535"/>
            <a:ext cx="4469076" cy="419293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792764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二等辺三角形 4"/>
          <p:cNvSpPr/>
          <p:nvPr/>
        </p:nvSpPr>
        <p:spPr>
          <a:xfrm>
            <a:off x="3169330" y="1663776"/>
            <a:ext cx="990600" cy="185828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タイトル 3"/>
          <p:cNvSpPr>
            <a:spLocks noGrp="1"/>
          </p:cNvSpPr>
          <p:nvPr>
            <p:ph type="title"/>
          </p:nvPr>
        </p:nvSpPr>
        <p:spPr>
          <a:xfrm>
            <a:off x="1371599" y="685800"/>
            <a:ext cx="5783180" cy="1263528"/>
          </a:xfrm>
        </p:spPr>
        <p:txBody>
          <a:bodyPr>
            <a:normAutofit/>
          </a:bodyPr>
          <a:lstStyle/>
          <a:p>
            <a:r>
              <a:rPr lang="en-US" altLang="ja-JP" dirty="0" smtClean="0"/>
              <a:t>3</a:t>
            </a:r>
            <a:r>
              <a:rPr kumimoji="1" lang="en-US" altLang="ja-JP" dirty="0" smtClean="0"/>
              <a:t>.</a:t>
            </a:r>
            <a:r>
              <a:rPr kumimoji="1" lang="ja-JP" altLang="en-US" dirty="0" smtClean="0"/>
              <a:t>　手法 </a:t>
            </a:r>
            <a:r>
              <a:rPr lang="ja-JP" altLang="en-US" dirty="0" smtClean="0"/>
              <a:t>（</a:t>
            </a:r>
            <a:r>
              <a:rPr lang="en-US" altLang="ja-JP" dirty="0" smtClean="0"/>
              <a:t>3/4</a:t>
            </a:r>
            <a:r>
              <a:rPr lang="ja-JP" altLang="en-US" dirty="0" smtClean="0"/>
              <a:t>）</a:t>
            </a:r>
            <a:endParaRPr kumimoji="1" lang="ja-JP" altLang="en-US" dirty="0"/>
          </a:p>
        </p:txBody>
      </p:sp>
      <p:sp>
        <p:nvSpPr>
          <p:cNvPr id="40" name="テキスト ボックス 39"/>
          <p:cNvSpPr txBox="1"/>
          <p:nvPr/>
        </p:nvSpPr>
        <p:spPr>
          <a:xfrm>
            <a:off x="1446781" y="1383998"/>
            <a:ext cx="7577476" cy="707886"/>
          </a:xfrm>
          <a:prstGeom prst="rect">
            <a:avLst/>
          </a:prstGeom>
          <a:noFill/>
        </p:spPr>
        <p:txBody>
          <a:bodyPr wrap="square" rtlCol="0">
            <a:spAutoFit/>
          </a:bodyPr>
          <a:lstStyle/>
          <a:p>
            <a:r>
              <a:rPr lang="ja-JP" altLang="en-US" sz="2000" b="1" dirty="0" smtClean="0"/>
              <a:t>メッシュオブジェクト（物体モデル）としてのライト</a:t>
            </a:r>
            <a:endParaRPr lang="en-US" altLang="ja-JP" sz="2000" b="1" dirty="0" smtClean="0"/>
          </a:p>
          <a:p>
            <a:endParaRPr lang="en-US" altLang="ja-JP" sz="2000" dirty="0"/>
          </a:p>
        </p:txBody>
      </p:sp>
      <p:pic>
        <p:nvPicPr>
          <p:cNvPr id="2" name="図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8746" y="5069942"/>
            <a:ext cx="1000142" cy="1002367"/>
          </a:xfrm>
          <a:prstGeom prst="rect">
            <a:avLst/>
          </a:prstGeom>
        </p:spPr>
      </p:pic>
      <p:sp>
        <p:nvSpPr>
          <p:cNvPr id="12" name="テキスト ボックス 11"/>
          <p:cNvSpPr txBox="1"/>
          <p:nvPr/>
        </p:nvSpPr>
        <p:spPr>
          <a:xfrm>
            <a:off x="1989235" y="4093955"/>
            <a:ext cx="3077396" cy="393317"/>
          </a:xfrm>
          <a:prstGeom prst="rect">
            <a:avLst/>
          </a:prstGeom>
          <a:noFill/>
        </p:spPr>
        <p:txBody>
          <a:bodyPr wrap="square" rtlCol="0">
            <a:spAutoFit/>
          </a:bodyPr>
          <a:lstStyle/>
          <a:p>
            <a:pPr algn="ctr"/>
            <a:r>
              <a:rPr kumimoji="1" lang="ja-JP" altLang="en-US" dirty="0">
                <a:effectLst>
                  <a:outerShdw blurRad="38100" dist="38100" dir="2700000" algn="tl">
                    <a:srgbClr val="000000">
                      <a:alpha val="43137"/>
                    </a:srgbClr>
                  </a:outerShdw>
                </a:effectLst>
              </a:rPr>
              <a:t>ジオメトリ</a:t>
            </a:r>
            <a:r>
              <a:rPr kumimoji="1" lang="en-US" altLang="ja-JP" dirty="0">
                <a:effectLst>
                  <a:outerShdw blurRad="38100" dist="38100" dir="2700000" algn="tl">
                    <a:srgbClr val="000000">
                      <a:alpha val="43137"/>
                    </a:srgbClr>
                  </a:outerShdw>
                </a:effectLst>
              </a:rPr>
              <a:t>(</a:t>
            </a:r>
            <a:r>
              <a:rPr kumimoji="1" lang="ja-JP" altLang="en-US" dirty="0">
                <a:effectLst>
                  <a:outerShdw blurRad="38100" dist="38100" dir="2700000" algn="tl">
                    <a:srgbClr val="000000">
                      <a:alpha val="43137"/>
                    </a:srgbClr>
                  </a:outerShdw>
                </a:effectLst>
              </a:rPr>
              <a:t>形状</a:t>
            </a:r>
            <a:r>
              <a:rPr kumimoji="1" lang="en-US" altLang="ja-JP" dirty="0">
                <a:effectLst>
                  <a:outerShdw blurRad="38100" dist="38100" dir="2700000" algn="tl">
                    <a:srgbClr val="000000">
                      <a:alpha val="43137"/>
                    </a:srgbClr>
                  </a:outerShdw>
                </a:effectLst>
              </a:rPr>
              <a:t>)</a:t>
            </a:r>
            <a:endParaRPr kumimoji="1" lang="ja-JP" altLang="en-US" dirty="0">
              <a:effectLst>
                <a:outerShdw blurRad="38100" dist="38100" dir="2700000" algn="tl">
                  <a:srgbClr val="000000">
                    <a:alpha val="43137"/>
                  </a:srgbClr>
                </a:outerShdw>
              </a:effectLst>
            </a:endParaRPr>
          </a:p>
        </p:txBody>
      </p:sp>
      <p:sp>
        <p:nvSpPr>
          <p:cNvPr id="13" name="テキスト ボックス 12"/>
          <p:cNvSpPr txBox="1"/>
          <p:nvPr/>
        </p:nvSpPr>
        <p:spPr>
          <a:xfrm>
            <a:off x="1673150" y="6261662"/>
            <a:ext cx="3871475" cy="393317"/>
          </a:xfrm>
          <a:prstGeom prst="rect">
            <a:avLst/>
          </a:prstGeom>
          <a:noFill/>
        </p:spPr>
        <p:txBody>
          <a:bodyPr wrap="square" rtlCol="0">
            <a:spAutoFit/>
          </a:bodyPr>
          <a:lstStyle/>
          <a:p>
            <a:pPr algn="ctr"/>
            <a:r>
              <a:rPr kumimoji="1" lang="ja-JP" altLang="en-US" dirty="0">
                <a:effectLst>
                  <a:outerShdw blurRad="38100" dist="38100" dir="2700000" algn="tl">
                    <a:srgbClr val="000000">
                      <a:alpha val="43137"/>
                    </a:srgbClr>
                  </a:outerShdw>
                </a:effectLst>
              </a:rPr>
              <a:t>マテリアル（表面素材）</a:t>
            </a:r>
          </a:p>
        </p:txBody>
      </p:sp>
      <p:sp>
        <p:nvSpPr>
          <p:cNvPr id="14" name="十字形 13"/>
          <p:cNvSpPr/>
          <p:nvPr/>
        </p:nvSpPr>
        <p:spPr>
          <a:xfrm>
            <a:off x="3287632" y="4461954"/>
            <a:ext cx="321256" cy="224469"/>
          </a:xfrm>
          <a:prstGeom prst="plus">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右矢印 14"/>
          <p:cNvSpPr/>
          <p:nvPr/>
        </p:nvSpPr>
        <p:spPr>
          <a:xfrm>
            <a:off x="5340025" y="3121345"/>
            <a:ext cx="1674859" cy="744929"/>
          </a:xfrm>
          <a:prstGeom prst="rightArrow">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ローチャート: 磁気ディスク 2"/>
          <p:cNvSpPr/>
          <p:nvPr/>
        </p:nvSpPr>
        <p:spPr>
          <a:xfrm>
            <a:off x="1989235" y="1974362"/>
            <a:ext cx="1239022" cy="201764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コンテンツ プレースホルダー 3" descr="画面の領域"/>
          <p:cNvPicPr>
            <a:picLocks noGrp="1" noChangeAspect="1"/>
          </p:cNvPicPr>
          <p:nvPr>
            <p:ph idx="1"/>
          </p:nvPr>
        </p:nvPicPr>
        <p:blipFill rotWithShape="1">
          <a:blip r:embed="rId4">
            <a:extLst>
              <a:ext uri="{28A0092B-C50C-407E-A947-70E740481C1C}">
                <a14:useLocalDpi xmlns:a14="http://schemas.microsoft.com/office/drawing/2010/main" val="0"/>
              </a:ext>
            </a:extLst>
          </a:blip>
          <a:srcRect l="10651"/>
          <a:stretch/>
        </p:blipFill>
        <p:spPr>
          <a:xfrm>
            <a:off x="9024257" y="2261370"/>
            <a:ext cx="1880374" cy="4233525"/>
          </a:xfrm>
        </p:spPr>
      </p:pic>
      <p:pic>
        <p:nvPicPr>
          <p:cNvPr id="21" name="コンテンツ プレースホルダー 5" descr="画面の領域"/>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78399" y="1927641"/>
            <a:ext cx="2023624" cy="4128734"/>
          </a:xfrm>
          <a:prstGeom prst="rect">
            <a:avLst/>
          </a:prstGeom>
        </p:spPr>
      </p:pic>
    </p:spTree>
    <p:extLst>
      <p:ext uri="{BB962C8B-B14F-4D97-AF65-F5344CB8AC3E}">
        <p14:creationId xmlns:p14="http://schemas.microsoft.com/office/powerpoint/2010/main" val="6165853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1371599" y="685800"/>
            <a:ext cx="5783180" cy="1263528"/>
          </a:xfrm>
        </p:spPr>
        <p:txBody>
          <a:bodyPr>
            <a:normAutofit/>
          </a:bodyPr>
          <a:lstStyle/>
          <a:p>
            <a:r>
              <a:rPr lang="en-US" altLang="ja-JP" dirty="0" smtClean="0"/>
              <a:t>4</a:t>
            </a:r>
            <a:r>
              <a:rPr kumimoji="1" lang="en-US" altLang="ja-JP" dirty="0" smtClean="0"/>
              <a:t>.</a:t>
            </a:r>
            <a:r>
              <a:rPr kumimoji="1" lang="ja-JP" altLang="en-US" dirty="0" smtClean="0"/>
              <a:t>　</a:t>
            </a:r>
            <a:r>
              <a:rPr lang="ja-JP" altLang="en-US" dirty="0" smtClean="0"/>
              <a:t>実行</a:t>
            </a:r>
            <a:r>
              <a:rPr lang="ja-JP" altLang="en-US" dirty="0"/>
              <a:t>例</a:t>
            </a:r>
            <a:endParaRPr kumimoji="1" lang="ja-JP" altLang="en-US" dirty="0"/>
          </a:p>
        </p:txBody>
      </p:sp>
      <p:sp>
        <p:nvSpPr>
          <p:cNvPr id="2" name="テキスト ボックス 1"/>
          <p:cNvSpPr txBox="1"/>
          <p:nvPr/>
        </p:nvSpPr>
        <p:spPr>
          <a:xfrm>
            <a:off x="1371599" y="1752600"/>
            <a:ext cx="8001001" cy="369332"/>
          </a:xfrm>
          <a:prstGeom prst="rect">
            <a:avLst/>
          </a:prstGeom>
          <a:noFill/>
        </p:spPr>
        <p:txBody>
          <a:bodyPr wrap="square" rtlCol="0">
            <a:spAutoFit/>
          </a:bodyPr>
          <a:lstStyle/>
          <a:p>
            <a:r>
              <a:rPr kumimoji="1" lang="ja-JP" altLang="en-US" dirty="0" smtClean="0"/>
              <a:t>実際に例を動作させます。</a:t>
            </a:r>
            <a:endParaRPr kumimoji="1" lang="ja-JP" altLang="en-US" dirty="0"/>
          </a:p>
        </p:txBody>
      </p:sp>
      <p:pic>
        <p:nvPicPr>
          <p:cNvPr id="7" name="画面録画 5">
            <a:hlinkClick r:id="" action="ppaction://media"/>
            <a:extLst>
              <a:ext uri="{FF2B5EF4-FFF2-40B4-BE49-F238E27FC236}">
                <a16:creationId xmlns:a16="http://schemas.microsoft.com/office/drawing/2014/main" xmlns="" id="{599A40F9-F0ED-4375-9D39-84798B97BE7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342416"/>
            <a:ext cx="12192000" cy="5515583"/>
          </a:xfrm>
          <a:prstGeom prst="rect">
            <a:avLst/>
          </a:prstGeom>
        </p:spPr>
      </p:pic>
    </p:spTree>
    <p:extLst>
      <p:ext uri="{BB962C8B-B14F-4D97-AF65-F5344CB8AC3E}">
        <p14:creationId xmlns:p14="http://schemas.microsoft.com/office/powerpoint/2010/main" val="211923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3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1371599" y="685800"/>
            <a:ext cx="5783180" cy="1263528"/>
          </a:xfrm>
        </p:spPr>
        <p:txBody>
          <a:bodyPr>
            <a:normAutofit/>
          </a:bodyPr>
          <a:lstStyle/>
          <a:p>
            <a:r>
              <a:rPr lang="en-US" altLang="ja-JP" dirty="0"/>
              <a:t>5</a:t>
            </a:r>
            <a:r>
              <a:rPr kumimoji="1" lang="en-US" altLang="ja-JP" dirty="0" smtClean="0"/>
              <a:t>.</a:t>
            </a:r>
            <a:r>
              <a:rPr kumimoji="1" lang="ja-JP" altLang="en-US" dirty="0" smtClean="0"/>
              <a:t>　</a:t>
            </a:r>
            <a:r>
              <a:rPr lang="ja-JP" altLang="en-US" dirty="0"/>
              <a:t>結論</a:t>
            </a:r>
            <a:endParaRPr kumimoji="1" lang="ja-JP" altLang="en-US" dirty="0"/>
          </a:p>
        </p:txBody>
      </p:sp>
      <p:sp>
        <p:nvSpPr>
          <p:cNvPr id="2" name="テキスト ボックス 1"/>
          <p:cNvSpPr txBox="1"/>
          <p:nvPr/>
        </p:nvSpPr>
        <p:spPr>
          <a:xfrm>
            <a:off x="2256973" y="1949328"/>
            <a:ext cx="8207828" cy="2400657"/>
          </a:xfrm>
          <a:prstGeom prst="rect">
            <a:avLst/>
          </a:prstGeom>
          <a:noFill/>
        </p:spPr>
        <p:txBody>
          <a:bodyPr wrap="square" rtlCol="0">
            <a:spAutoFit/>
          </a:bodyPr>
          <a:lstStyle/>
          <a:p>
            <a:pPr marL="457200" indent="-457200">
              <a:buFont typeface="Arial" panose="020B0604020202020204" pitchFamily="34" charset="0"/>
              <a:buChar char="•"/>
            </a:pPr>
            <a:r>
              <a:rPr kumimoji="1" lang="ja-JP" altLang="en-US" sz="3000" dirty="0" smtClean="0"/>
              <a:t>照明を</a:t>
            </a:r>
            <a:r>
              <a:rPr kumimoji="1" lang="en-US" altLang="ja-JP" sz="3000" dirty="0" smtClean="0"/>
              <a:t>3D</a:t>
            </a:r>
            <a:r>
              <a:rPr kumimoji="1" lang="ja-JP" altLang="en-US" sz="3000" dirty="0" smtClean="0"/>
              <a:t>モデリングし、シミュレーションが行える</a:t>
            </a:r>
            <a:endParaRPr kumimoji="1" lang="en-US" altLang="ja-JP" sz="3000" dirty="0" smtClean="0"/>
          </a:p>
          <a:p>
            <a:pPr marL="457200" indent="-457200">
              <a:buFont typeface="Arial" panose="020B0604020202020204" pitchFamily="34" charset="0"/>
              <a:buChar char="•"/>
            </a:pPr>
            <a:r>
              <a:rPr lang="en-US" altLang="ja-JP" sz="3000" dirty="0" smtClean="0"/>
              <a:t>WEB</a:t>
            </a:r>
            <a:r>
              <a:rPr lang="ja-JP" altLang="en-US" sz="3000" dirty="0" smtClean="0"/>
              <a:t>ブラウザの画面上のみで編集することができるツールとなっている</a:t>
            </a:r>
            <a:endParaRPr lang="en-US" altLang="ja-JP" sz="3000" dirty="0" smtClean="0"/>
          </a:p>
          <a:p>
            <a:pPr marL="457200" indent="-457200">
              <a:buFont typeface="Arial" panose="020B0604020202020204" pitchFamily="34" charset="0"/>
              <a:buChar char="•"/>
            </a:pPr>
            <a:r>
              <a:rPr kumimoji="1" lang="ja-JP" altLang="en-US" sz="3000" smtClean="0"/>
              <a:t>編集画面はサーバー上に保存ができる</a:t>
            </a:r>
            <a:endParaRPr kumimoji="1" lang="en-US" altLang="ja-JP" sz="3000" dirty="0" smtClean="0"/>
          </a:p>
        </p:txBody>
      </p:sp>
    </p:spTree>
    <p:extLst>
      <p:ext uri="{BB962C8B-B14F-4D97-AF65-F5344CB8AC3E}">
        <p14:creationId xmlns:p14="http://schemas.microsoft.com/office/powerpoint/2010/main" val="15215338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algn="ctr"/>
            <a:r>
              <a:rPr lang="ja-JP" altLang="en-US" dirty="0" smtClean="0"/>
              <a:t>参考文献</a:t>
            </a:r>
            <a:endParaRPr kumimoji="1" lang="ja-JP" altLang="en-US" dirty="0"/>
          </a:p>
        </p:txBody>
      </p:sp>
      <p:sp>
        <p:nvSpPr>
          <p:cNvPr id="3" name="コンテンツ プレースホルダー 2"/>
          <p:cNvSpPr>
            <a:spLocks noGrp="1"/>
          </p:cNvSpPr>
          <p:nvPr>
            <p:ph idx="1"/>
          </p:nvPr>
        </p:nvSpPr>
        <p:spPr/>
        <p:txBody>
          <a:bodyPr/>
          <a:lstStyle/>
          <a:p>
            <a:r>
              <a:rPr lang="en-US" altLang="ja-JP" u="sng" dirty="0">
                <a:hlinkClick r:id="rId2"/>
              </a:rPr>
              <a:t>http://www.tsjnet.co.jp/light_converse/lc_spec.html</a:t>
            </a:r>
            <a:endParaRPr lang="en-US" altLang="ja-JP" dirty="0" smtClean="0"/>
          </a:p>
          <a:p>
            <a:r>
              <a:rPr lang="en-US" altLang="ja-JP" dirty="0" err="1" smtClean="0"/>
              <a:t>Dongwook</a:t>
            </a:r>
            <a:r>
              <a:rPr lang="en-US" altLang="ja-JP" dirty="0" smtClean="0"/>
              <a:t> </a:t>
            </a:r>
            <a:r>
              <a:rPr lang="en-US" altLang="ja-JP" dirty="0"/>
              <a:t>Lee, </a:t>
            </a:r>
            <a:r>
              <a:rPr lang="en-US" altLang="ja-JP" dirty="0" err="1"/>
              <a:t>Seungwon</a:t>
            </a:r>
            <a:r>
              <a:rPr lang="en-US" altLang="ja-JP" dirty="0"/>
              <a:t>, Oh </a:t>
            </a:r>
            <a:r>
              <a:rPr lang="en-US" altLang="ja-JP" dirty="0" err="1"/>
              <a:t>Sunyun</a:t>
            </a:r>
            <a:r>
              <a:rPr lang="en-US" altLang="ja-JP" dirty="0"/>
              <a:t> Jang, </a:t>
            </a:r>
            <a:r>
              <a:rPr lang="en-US" altLang="ja-JP" dirty="0" err="1"/>
              <a:t>Minsoo</a:t>
            </a:r>
            <a:r>
              <a:rPr lang="en-US" altLang="ja-JP" dirty="0"/>
              <a:t> Hahn, 3D Visualization Tool for Digital Costume Design </a:t>
            </a:r>
            <a:r>
              <a:rPr lang="ja-JP" altLang="ja-JP" dirty="0" err="1"/>
              <a:t>，</a:t>
            </a:r>
            <a:r>
              <a:rPr lang="en-US" altLang="ja-JP" dirty="0" err="1"/>
              <a:t>Minsoo</a:t>
            </a:r>
            <a:r>
              <a:rPr lang="en-US" altLang="ja-JP" dirty="0"/>
              <a:t> Hahn, International Conference on Computer and Information Technology (ICCIT) / 6</a:t>
            </a:r>
            <a:r>
              <a:rPr lang="en-US" altLang="ja-JP" baseline="30000" dirty="0"/>
              <a:t>th</a:t>
            </a:r>
            <a:r>
              <a:rPr lang="en-US" altLang="ja-JP" dirty="0"/>
              <a:t> </a:t>
            </a:r>
            <a:r>
              <a:rPr lang="en-US" altLang="ja-JP" dirty="0" err="1"/>
              <a:t>Internatinal</a:t>
            </a:r>
            <a:r>
              <a:rPr lang="en-US" altLang="ja-JP" dirty="0"/>
              <a:t> Conference, 2011</a:t>
            </a:r>
            <a:r>
              <a:rPr lang="ja-JP" altLang="ja-JP" dirty="0" err="1"/>
              <a:t>．</a:t>
            </a:r>
            <a:endParaRPr lang="ja-JP" altLang="ja-JP" dirty="0"/>
          </a:p>
          <a:p>
            <a:pPr lvl="0"/>
            <a:r>
              <a:rPr lang="en-US" altLang="ja-JP" dirty="0"/>
              <a:t>Jos </a:t>
            </a:r>
            <a:r>
              <a:rPr lang="en-US" altLang="ja-JP" dirty="0" err="1"/>
              <a:t>DirKsen</a:t>
            </a:r>
            <a:r>
              <a:rPr lang="en-US" altLang="ja-JP" dirty="0"/>
              <a:t>(</a:t>
            </a:r>
            <a:r>
              <a:rPr lang="ja-JP" altLang="ja-JP" dirty="0"/>
              <a:t>著</a:t>
            </a:r>
            <a:r>
              <a:rPr lang="en-US" altLang="ja-JP" dirty="0"/>
              <a:t>), </a:t>
            </a:r>
            <a:r>
              <a:rPr lang="ja-JP" altLang="ja-JP" dirty="0"/>
              <a:t>あんどうやすし</a:t>
            </a:r>
            <a:r>
              <a:rPr lang="en-US" altLang="ja-JP" dirty="0"/>
              <a:t>(</a:t>
            </a:r>
            <a:r>
              <a:rPr lang="ja-JP" altLang="ja-JP" dirty="0"/>
              <a:t>翻訳</a:t>
            </a:r>
            <a:r>
              <a:rPr lang="en-US" altLang="ja-JP" dirty="0"/>
              <a:t>)</a:t>
            </a:r>
            <a:r>
              <a:rPr lang="ja-JP" altLang="ja-JP" dirty="0" err="1"/>
              <a:t>，</a:t>
            </a:r>
            <a:r>
              <a:rPr lang="ja-JP" altLang="ja-JP" dirty="0"/>
              <a:t> 初めての</a:t>
            </a:r>
            <a:r>
              <a:rPr lang="en-US" altLang="ja-JP" dirty="0"/>
              <a:t>Three.js </a:t>
            </a:r>
            <a:r>
              <a:rPr lang="ja-JP" altLang="ja-JP" dirty="0"/>
              <a:t>第</a:t>
            </a:r>
            <a:r>
              <a:rPr lang="en-US" altLang="ja-JP" dirty="0"/>
              <a:t>2</a:t>
            </a:r>
            <a:r>
              <a:rPr lang="ja-JP" altLang="ja-JP" dirty="0"/>
              <a:t>版</a:t>
            </a:r>
            <a:r>
              <a:rPr lang="en-US" altLang="ja-JP" dirty="0"/>
              <a:t>-</a:t>
            </a:r>
            <a:r>
              <a:rPr lang="en-US" altLang="ja-JP" dirty="0" err="1"/>
              <a:t>WebGL</a:t>
            </a:r>
            <a:r>
              <a:rPr lang="ja-JP" altLang="ja-JP" dirty="0"/>
              <a:t>のための</a:t>
            </a:r>
            <a:r>
              <a:rPr lang="en-US" altLang="ja-JP" dirty="0"/>
              <a:t>JavaScript3D</a:t>
            </a:r>
            <a:r>
              <a:rPr lang="ja-JP" altLang="ja-JP" dirty="0"/>
              <a:t>ライブラリ</a:t>
            </a:r>
            <a:r>
              <a:rPr lang="en-US" altLang="ja-JP" dirty="0"/>
              <a:t>-,</a:t>
            </a:r>
            <a:r>
              <a:rPr lang="ja-JP" altLang="ja-JP" dirty="0"/>
              <a:t>（社）オライリー・ジャパン ，東京，</a:t>
            </a:r>
            <a:r>
              <a:rPr lang="en-US" altLang="ja-JP" dirty="0"/>
              <a:t>2016</a:t>
            </a:r>
            <a:r>
              <a:rPr lang="ja-JP" altLang="ja-JP" dirty="0" err="1" smtClean="0"/>
              <a:t>．</a:t>
            </a:r>
            <a:endParaRPr lang="en-US" altLang="ja-JP" dirty="0" smtClean="0"/>
          </a:p>
        </p:txBody>
      </p:sp>
    </p:spTree>
    <p:extLst>
      <p:ext uri="{BB962C8B-B14F-4D97-AF65-F5344CB8AC3E}">
        <p14:creationId xmlns:p14="http://schemas.microsoft.com/office/powerpoint/2010/main" val="34086038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画面録画 4">
            <a:hlinkClick r:id="" action="ppaction://media"/>
            <a:extLst>
              <a:ext uri="{FF2B5EF4-FFF2-40B4-BE49-F238E27FC236}">
                <a16:creationId xmlns:a16="http://schemas.microsoft.com/office/drawing/2014/main" xmlns="" id="{D9181983-5AFB-427F-B946-36D975CB7144}"/>
              </a:ext>
            </a:extLst>
          </p:cNvPr>
          <p:cNvPicPr>
            <a:picLocks noChangeAspect="1"/>
          </p:cNvPicPr>
          <p:nvPr>
            <a:videoFile r:link="rId1"/>
            <p:extLst>
              <p:ext uri="{DAA4B4D4-6D71-4841-9C94-3DE7FCFB9230}">
                <p14:media xmlns:p14="http://schemas.microsoft.com/office/powerpoint/2010/main" r:embed="rId2">
                  <p14:trim st="10067"/>
                </p14:media>
              </p:ext>
            </p:extLst>
          </p:nvPr>
        </p:nvPicPr>
        <p:blipFill>
          <a:blip r:embed="rId5"/>
          <a:stretch>
            <a:fillRect/>
          </a:stretch>
        </p:blipFill>
        <p:spPr>
          <a:xfrm>
            <a:off x="0" y="76200"/>
            <a:ext cx="12192000" cy="6781800"/>
          </a:xfrm>
          <a:prstGeom prst="rect">
            <a:avLst/>
          </a:prstGeom>
        </p:spPr>
      </p:pic>
    </p:spTree>
    <p:extLst>
      <p:ext uri="{BB962C8B-B14F-4D97-AF65-F5344CB8AC3E}">
        <p14:creationId xmlns:p14="http://schemas.microsoft.com/office/powerpoint/2010/main" val="140208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5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heme/theme1.xml><?xml version="1.0" encoding="utf-8"?>
<a:theme xmlns:a="http://schemas.openxmlformats.org/drawingml/2006/main" name="Crop">
  <a:themeElements>
    <a:clrScheme name="グレースケール">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トリミング</Template>
  <TotalTime>3198</TotalTime>
  <Words>503</Words>
  <Application>Microsoft Office PowerPoint</Application>
  <PresentationFormat>ワイド画面</PresentationFormat>
  <Paragraphs>94</Paragraphs>
  <Slides>13</Slides>
  <Notes>10</Notes>
  <HiddenSlides>0</HiddenSlides>
  <MMClips>2</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13</vt:i4>
      </vt:variant>
    </vt:vector>
  </HeadingPairs>
  <TitlesOfParts>
    <vt:vector size="21" baseType="lpstr">
      <vt:lpstr>Adobe Gothic Std B</vt:lpstr>
      <vt:lpstr>ＭＳ Ｐゴシック</vt:lpstr>
      <vt:lpstr>メイリオ</vt:lpstr>
      <vt:lpstr>Arial</vt:lpstr>
      <vt:lpstr>Calibri</vt:lpstr>
      <vt:lpstr>Franklin Gothic Book</vt:lpstr>
      <vt:lpstr>Wingdings</vt:lpstr>
      <vt:lpstr>Crop</vt:lpstr>
      <vt:lpstr>舞台照明シミュレーションツールの開発</vt:lpstr>
      <vt:lpstr>目次</vt:lpstr>
      <vt:lpstr>1. 研究概要（1/2）</vt:lpstr>
      <vt:lpstr>1. 研究概要（2/2）</vt:lpstr>
      <vt:lpstr>2.　先行研究および課題</vt:lpstr>
      <vt:lpstr>3.　手法 （1/4）</vt:lpstr>
      <vt:lpstr>3.　手法 （2/4）</vt:lpstr>
      <vt:lpstr>3.　手法 （3/4）</vt:lpstr>
      <vt:lpstr>3.　手法 （3/4）</vt:lpstr>
      <vt:lpstr>4.　実行例</vt:lpstr>
      <vt:lpstr>5.　結論</vt:lpstr>
      <vt:lpstr>参考文献</vt:lpstr>
      <vt:lpstr>PowerPoint プレゼンテーション</vt:lpstr>
    </vt:vector>
  </TitlesOfParts>
  <Company>法政大学</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中間発表資料</dc:title>
  <dc:creator>情報科学部</dc:creator>
  <cp:lastModifiedBy>情報科学部</cp:lastModifiedBy>
  <cp:revision>141</cp:revision>
  <dcterms:created xsi:type="dcterms:W3CDTF">2018-09-21T08:25:52Z</dcterms:created>
  <dcterms:modified xsi:type="dcterms:W3CDTF">2019-02-12T23:10:54Z</dcterms:modified>
</cp:coreProperties>
</file>